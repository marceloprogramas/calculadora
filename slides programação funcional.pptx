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7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84" r:id="rId7"/>
    <p:sldId id="386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12192000"/>
  <p:embeddedFontLst>
    <p:embeddedFont>
      <p:font typeface="Century Gothic" panose="020B0502020202020204" pitchFamily="34" charset="0"/>
      <p:regular r:id="rId22"/>
      <p:bold r:id="rId23"/>
      <p:italic r:id="rId24"/>
      <p:boldItalic r:id="rId25"/>
    </p:embeddedFon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Corbel" panose="020B0503020204020204" pitchFamily="34" charset="0"/>
      <p:regular r:id="rId30"/>
      <p:bold r:id="rId31"/>
      <p:italic r:id="rId32"/>
      <p:boldItalic r:id="rId33"/>
    </p:embeddedFont>
    <p:embeddedFont>
      <p:font typeface="IBM Plex Sans" panose="020B0503050203000203" pitchFamily="34" charset="0"/>
      <p:regular r:id="rId34"/>
      <p:bold r:id="rId35"/>
      <p:italic r:id="rId36"/>
      <p:boldItalic r:id="rId37"/>
    </p:embeddedFont>
    <p:embeddedFont>
      <p:font typeface="IBM Plex Sans Bold" panose="020B0803050203000203" charset="0"/>
      <p:regular r:id="rId38"/>
      <p:bold r:id="rId39"/>
    </p:embeddedFont>
    <p:embeddedFont>
      <p:font typeface="IBM Plex Sans SemiBold" panose="020B0703050203000203" pitchFamily="34" charset="0"/>
      <p:bold r:id="rId40"/>
      <p:boldItalic r:id="rId41"/>
    </p:embeddedFont>
    <p:embeddedFont>
      <p:font typeface="Space Grotesk Bold" panose="020B0604020202020204" charset="0"/>
      <p:regular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C0A9D-C889-4ADC-994A-3F87CAB38C65}" type="datetimeFigureOut">
              <a:t>27/10/2026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B4098-DE29-45F5-98B8-70DD20140601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apresentação. Contextualizar a disciplina de Paradigmas de Linguagens de Programação e introduzir o objetivo: construir um avaliador de expressões aritméticas utilizando os conceitos fundamentais do paradigma funcional em Haskell.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da apresentação de 15 minutos: passar rapidamente pelos tópicos principais para alinhar a audiência sobre a trajetória da exposição teórica até a demonstração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nenhum paradigma é universalmente superior: imperativo foca em controle e estado, funcional foca em transformação de dados sem efeitos colaterais.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expressão 1+(2-3)*4: (2-3) gera -1, que multiplicado por 4 dá -4, e somado a 1 resulta em -3. Demonstrar por que um leitor ingênuo da esquerda para a direita falharia.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92721250-A1F0-4E7C-9F1A-96E3E3FAD125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3114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3B31-2377-D9A5-5A40-6942F1E5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CB6B345-DEF5-895C-8E1D-707D5DC4C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24F8EF7-15B2-9472-5945-EF7A86AAE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6B20925-7490-AF93-20D5-618B2CEE7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681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7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Manter um tom honesto: Haskell traz garantias teóricas excepcionais, mas a avaliação preguiçosa e a depuração exigem maturidade técnica da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Ressaltar aos ouvintes que o algoritmo não gera AST nem tokens intermediários em estruturas complexas: ele avalia diretamente a string fatiada recursivamente pelo operador de menor precedência.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execução: a função encontra o operador '-' como divisor principal da expressão, delega os dois ramos (2+4) e (4/2) para chamadas recursivas, calcula cada um e subtrai.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 da apresentação: amarrar todos os conceitos abordados (tokens, precedência, recursão, avaliação preguiçosa e comparação de paradigmas) e abrir espaço para perguntas dos colegas e do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46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6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87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85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235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42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464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42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332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218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66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300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159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014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992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590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397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280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solidFill>
            <a:srgbClr val="1A05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450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solidFill>
            <a:srgbClr val="0416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64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solidFill>
            <a:srgbClr val="140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9717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solidFill>
            <a:srgbClr val="1517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382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409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Ú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FBC6ED5-DBEC-4BA5-9BFE-9A5E0ED8D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124" y="457199"/>
            <a:ext cx="11731752" cy="1176055"/>
          </a:xfrm>
        </p:spPr>
        <p:txBody>
          <a:bodyPr rtlCol="0"/>
          <a:lstStyle>
            <a:lvl1pPr>
              <a:defRPr lang="pt-BR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E4AF8E1-6D3D-7A31-0DD3-7B583B821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320120" y="2020391"/>
            <a:ext cx="9378501" cy="2410190"/>
            <a:chOff x="1320120" y="2020391"/>
            <a:chExt cx="9378501" cy="2410190"/>
          </a:xfrm>
        </p:grpSpPr>
        <p:sp>
          <p:nvSpPr>
            <p:cNvPr id="8" name="Forma Livre: Forma 7" descr="linha do tempo ">
              <a:extLst>
                <a:ext uri="{FF2B5EF4-FFF2-40B4-BE49-F238E27FC236}">
                  <a16:creationId xmlns:a16="http://schemas.microsoft.com/office/drawing/2014/main" id="{95FFD2E4-8235-F2BF-A205-9D552619322C}"/>
                </a:ext>
              </a:extLst>
            </p:cNvPr>
            <p:cNvSpPr/>
            <p:nvPr/>
          </p:nvSpPr>
          <p:spPr>
            <a:xfrm flipH="1" flipV="1">
              <a:off x="1392439" y="2020391"/>
              <a:ext cx="9252295" cy="2410190"/>
            </a:xfrm>
            <a:custGeom>
              <a:avLst/>
              <a:gdLst>
                <a:gd name="connsiteX0" fmla="*/ 1192508 w 9252295"/>
                <a:gd name="connsiteY0" fmla="*/ 2410190 h 2410190"/>
                <a:gd name="connsiteX1" fmla="*/ 0 w 9252295"/>
                <a:gd name="connsiteY1" fmla="*/ 1217682 h 2410190"/>
                <a:gd name="connsiteX2" fmla="*/ 1107 w 9252295"/>
                <a:gd name="connsiteY2" fmla="*/ 1206703 h 2410190"/>
                <a:gd name="connsiteX3" fmla="*/ 96158 w 9252295"/>
                <a:gd name="connsiteY3" fmla="*/ 1206703 h 2410190"/>
                <a:gd name="connsiteX4" fmla="*/ 95051 w 9252295"/>
                <a:gd name="connsiteY4" fmla="*/ 1217682 h 2410190"/>
                <a:gd name="connsiteX5" fmla="*/ 1192508 w 9252295"/>
                <a:gd name="connsiteY5" fmla="*/ 2315139 h 2410190"/>
                <a:gd name="connsiteX6" fmla="*/ 2289965 w 9252295"/>
                <a:gd name="connsiteY6" fmla="*/ 1217682 h 2410190"/>
                <a:gd name="connsiteX7" fmla="*/ 2289554 w 9252295"/>
                <a:gd name="connsiteY7" fmla="*/ 1209531 h 2410190"/>
                <a:gd name="connsiteX8" fmla="*/ 2290085 w 9252295"/>
                <a:gd name="connsiteY8" fmla="*/ 1209531 h 2410190"/>
                <a:gd name="connsiteX9" fmla="*/ 2295831 w 9252295"/>
                <a:gd name="connsiteY9" fmla="*/ 1095755 h 2410190"/>
                <a:gd name="connsiteX10" fmla="*/ 3482182 w 9252295"/>
                <a:gd name="connsiteY10" fmla="*/ 25174 h 2410190"/>
                <a:gd name="connsiteX11" fmla="*/ 4668533 w 9252295"/>
                <a:gd name="connsiteY11" fmla="*/ 1095755 h 2410190"/>
                <a:gd name="connsiteX12" fmla="*/ 4674278 w 9252295"/>
                <a:gd name="connsiteY12" fmla="*/ 1209531 h 2410190"/>
                <a:gd name="connsiteX13" fmla="*/ 4673516 w 9252295"/>
                <a:gd name="connsiteY13" fmla="*/ 1209531 h 2410190"/>
                <a:gd name="connsiteX14" fmla="*/ 4678322 w 9252295"/>
                <a:gd name="connsiteY14" fmla="*/ 1304717 h 2410190"/>
                <a:gd name="connsiteX15" fmla="*/ 5770114 w 9252295"/>
                <a:gd name="connsiteY15" fmla="*/ 2289966 h 2410190"/>
                <a:gd name="connsiteX16" fmla="*/ 6861904 w 9252295"/>
                <a:gd name="connsiteY16" fmla="*/ 1304717 h 2410190"/>
                <a:gd name="connsiteX17" fmla="*/ 6867159 w 9252295"/>
                <a:gd name="connsiteY17" fmla="*/ 1200660 h 2410190"/>
                <a:gd name="connsiteX18" fmla="*/ 6867690 w 9252295"/>
                <a:gd name="connsiteY18" fmla="*/ 1200660 h 2410190"/>
                <a:gd name="connsiteX19" fmla="*/ 6867279 w 9252295"/>
                <a:gd name="connsiteY19" fmla="*/ 1192508 h 2410190"/>
                <a:gd name="connsiteX20" fmla="*/ 8059787 w 9252295"/>
                <a:gd name="connsiteY20" fmla="*/ 0 h 2410190"/>
                <a:gd name="connsiteX21" fmla="*/ 9252295 w 9252295"/>
                <a:gd name="connsiteY21" fmla="*/ 1192508 h 2410190"/>
                <a:gd name="connsiteX22" fmla="*/ 9251964 w 9252295"/>
                <a:gd name="connsiteY22" fmla="*/ 1195794 h 2410190"/>
                <a:gd name="connsiteX23" fmla="*/ 9156913 w 9252295"/>
                <a:gd name="connsiteY23" fmla="*/ 1195794 h 2410190"/>
                <a:gd name="connsiteX24" fmla="*/ 9157244 w 9252295"/>
                <a:gd name="connsiteY24" fmla="*/ 1192508 h 2410190"/>
                <a:gd name="connsiteX25" fmla="*/ 8059787 w 9252295"/>
                <a:gd name="connsiteY25" fmla="*/ 95051 h 2410190"/>
                <a:gd name="connsiteX26" fmla="*/ 6962330 w 9252295"/>
                <a:gd name="connsiteY26" fmla="*/ 1192508 h 2410190"/>
                <a:gd name="connsiteX27" fmla="*/ 6962741 w 9252295"/>
                <a:gd name="connsiteY27" fmla="*/ 1200660 h 2410190"/>
                <a:gd name="connsiteX28" fmla="*/ 6962209 w 9252295"/>
                <a:gd name="connsiteY28" fmla="*/ 1200660 h 2410190"/>
                <a:gd name="connsiteX29" fmla="*/ 6956464 w 9252295"/>
                <a:gd name="connsiteY29" fmla="*/ 1314435 h 2410190"/>
                <a:gd name="connsiteX30" fmla="*/ 5770114 w 9252295"/>
                <a:gd name="connsiteY30" fmla="*/ 2385016 h 2410190"/>
                <a:gd name="connsiteX31" fmla="*/ 4583763 w 9252295"/>
                <a:gd name="connsiteY31" fmla="*/ 1314435 h 2410190"/>
                <a:gd name="connsiteX32" fmla="*/ 4578017 w 9252295"/>
                <a:gd name="connsiteY32" fmla="*/ 1200660 h 2410190"/>
                <a:gd name="connsiteX33" fmla="*/ 4578780 w 9252295"/>
                <a:gd name="connsiteY33" fmla="*/ 1200660 h 2410190"/>
                <a:gd name="connsiteX34" fmla="*/ 4573974 w 9252295"/>
                <a:gd name="connsiteY34" fmla="*/ 1105474 h 2410190"/>
                <a:gd name="connsiteX35" fmla="*/ 3482182 w 9252295"/>
                <a:gd name="connsiteY35" fmla="*/ 120225 h 2410190"/>
                <a:gd name="connsiteX36" fmla="*/ 2390391 w 9252295"/>
                <a:gd name="connsiteY36" fmla="*/ 1105474 h 2410190"/>
                <a:gd name="connsiteX37" fmla="*/ 2385136 w 9252295"/>
                <a:gd name="connsiteY37" fmla="*/ 1209531 h 2410190"/>
                <a:gd name="connsiteX38" fmla="*/ 2384604 w 9252295"/>
                <a:gd name="connsiteY38" fmla="*/ 1209531 h 2410190"/>
                <a:gd name="connsiteX39" fmla="*/ 2385016 w 9252295"/>
                <a:gd name="connsiteY39" fmla="*/ 1217682 h 2410190"/>
                <a:gd name="connsiteX40" fmla="*/ 1192508 w 9252295"/>
                <a:gd name="connsiteY40" fmla="*/ 2410190 h 241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252295" h="2410190">
                  <a:moveTo>
                    <a:pt x="1192508" y="2410190"/>
                  </a:moveTo>
                  <a:cubicBezTo>
                    <a:pt x="533904" y="2410190"/>
                    <a:pt x="0" y="1876286"/>
                    <a:pt x="0" y="1217682"/>
                  </a:cubicBezTo>
                  <a:lnTo>
                    <a:pt x="1107" y="1206703"/>
                  </a:lnTo>
                  <a:lnTo>
                    <a:pt x="96158" y="1206703"/>
                  </a:lnTo>
                  <a:lnTo>
                    <a:pt x="95051" y="1217682"/>
                  </a:lnTo>
                  <a:cubicBezTo>
                    <a:pt x="95051" y="1823791"/>
                    <a:pt x="586400" y="2315139"/>
                    <a:pt x="1192508" y="2315139"/>
                  </a:cubicBezTo>
                  <a:cubicBezTo>
                    <a:pt x="1798616" y="2315139"/>
                    <a:pt x="2289965" y="1823791"/>
                    <a:pt x="2289965" y="1217682"/>
                  </a:cubicBezTo>
                  <a:lnTo>
                    <a:pt x="2289554" y="1209531"/>
                  </a:lnTo>
                  <a:lnTo>
                    <a:pt x="2290085" y="1209531"/>
                  </a:lnTo>
                  <a:lnTo>
                    <a:pt x="2295831" y="1095755"/>
                  </a:lnTo>
                  <a:cubicBezTo>
                    <a:pt x="2356899" y="494427"/>
                    <a:pt x="2864742" y="25174"/>
                    <a:pt x="3482182" y="25174"/>
                  </a:cubicBezTo>
                  <a:cubicBezTo>
                    <a:pt x="4099623" y="25174"/>
                    <a:pt x="4607465" y="494427"/>
                    <a:pt x="4668533" y="1095755"/>
                  </a:cubicBezTo>
                  <a:lnTo>
                    <a:pt x="4674278" y="1209531"/>
                  </a:lnTo>
                  <a:lnTo>
                    <a:pt x="4673516" y="1209531"/>
                  </a:lnTo>
                  <a:lnTo>
                    <a:pt x="4678322" y="1304717"/>
                  </a:lnTo>
                  <a:cubicBezTo>
                    <a:pt x="4734523" y="1858116"/>
                    <a:pt x="5201886" y="2289966"/>
                    <a:pt x="5770114" y="2289966"/>
                  </a:cubicBezTo>
                  <a:cubicBezTo>
                    <a:pt x="6338340" y="2289966"/>
                    <a:pt x="6805704" y="1858116"/>
                    <a:pt x="6861904" y="1304717"/>
                  </a:cubicBezTo>
                  <a:lnTo>
                    <a:pt x="6867159" y="1200660"/>
                  </a:lnTo>
                  <a:lnTo>
                    <a:pt x="6867690" y="1200660"/>
                  </a:lnTo>
                  <a:lnTo>
                    <a:pt x="6867279" y="1192508"/>
                  </a:lnTo>
                  <a:cubicBezTo>
                    <a:pt x="6867279" y="533905"/>
                    <a:pt x="7401183" y="0"/>
                    <a:pt x="8059787" y="0"/>
                  </a:cubicBezTo>
                  <a:cubicBezTo>
                    <a:pt x="8718390" y="0"/>
                    <a:pt x="9252295" y="533905"/>
                    <a:pt x="9252295" y="1192508"/>
                  </a:cubicBezTo>
                  <a:lnTo>
                    <a:pt x="9251964" y="1195794"/>
                  </a:lnTo>
                  <a:lnTo>
                    <a:pt x="9156913" y="1195794"/>
                  </a:lnTo>
                  <a:lnTo>
                    <a:pt x="9157244" y="1192508"/>
                  </a:lnTo>
                  <a:cubicBezTo>
                    <a:pt x="9157244" y="586400"/>
                    <a:pt x="8665895" y="95051"/>
                    <a:pt x="8059787" y="95051"/>
                  </a:cubicBezTo>
                  <a:cubicBezTo>
                    <a:pt x="7453679" y="95051"/>
                    <a:pt x="6962330" y="586400"/>
                    <a:pt x="6962330" y="1192508"/>
                  </a:cubicBezTo>
                  <a:lnTo>
                    <a:pt x="6962741" y="1200660"/>
                  </a:lnTo>
                  <a:lnTo>
                    <a:pt x="6962209" y="1200660"/>
                  </a:lnTo>
                  <a:lnTo>
                    <a:pt x="6956464" y="1314435"/>
                  </a:lnTo>
                  <a:cubicBezTo>
                    <a:pt x="6895396" y="1915764"/>
                    <a:pt x="6387554" y="2385016"/>
                    <a:pt x="5770114" y="2385016"/>
                  </a:cubicBezTo>
                  <a:cubicBezTo>
                    <a:pt x="5152672" y="2385016"/>
                    <a:pt x="4644831" y="1915764"/>
                    <a:pt x="4583763" y="1314435"/>
                  </a:cubicBezTo>
                  <a:lnTo>
                    <a:pt x="4578017" y="1200660"/>
                  </a:lnTo>
                  <a:lnTo>
                    <a:pt x="4578780" y="1200660"/>
                  </a:lnTo>
                  <a:lnTo>
                    <a:pt x="4573974" y="1105474"/>
                  </a:lnTo>
                  <a:cubicBezTo>
                    <a:pt x="4517772" y="552075"/>
                    <a:pt x="4050409" y="120225"/>
                    <a:pt x="3482182" y="120225"/>
                  </a:cubicBezTo>
                  <a:cubicBezTo>
                    <a:pt x="2913956" y="120225"/>
                    <a:pt x="2446592" y="552075"/>
                    <a:pt x="2390391" y="1105474"/>
                  </a:cubicBezTo>
                  <a:lnTo>
                    <a:pt x="2385136" y="1209531"/>
                  </a:lnTo>
                  <a:lnTo>
                    <a:pt x="2384604" y="1209531"/>
                  </a:lnTo>
                  <a:lnTo>
                    <a:pt x="2385016" y="1217682"/>
                  </a:lnTo>
                  <a:cubicBezTo>
                    <a:pt x="2385016" y="1876286"/>
                    <a:pt x="1851111" y="2410190"/>
                    <a:pt x="1192508" y="2410190"/>
                  </a:cubicBezTo>
                  <a:close/>
                </a:path>
              </a:pathLst>
            </a:custGeom>
            <a:gradFill flip="none" rotWithShape="1">
              <a:gsLst>
                <a:gs pos="61000">
                  <a:schemeClr val="accent6"/>
                </a:gs>
                <a:gs pos="39000">
                  <a:schemeClr val="accent5"/>
                </a:gs>
                <a:gs pos="18000">
                  <a:schemeClr val="accent4"/>
                </a:gs>
                <a:gs pos="92000">
                  <a:schemeClr val="accent3"/>
                </a:gs>
              </a:gsLst>
              <a:lin ang="10800000" scaled="0"/>
              <a:tileRect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sz="4000" dirty="0">
                <a:solidFill>
                  <a:schemeClr val="accent2"/>
                </a:solidFill>
              </a:endParaRPr>
            </a:p>
          </p:txBody>
        </p:sp>
        <p:sp>
          <p:nvSpPr>
            <p:cNvPr id="9" name="Oval 8" descr="pontos de extremidade da linha do tempo">
              <a:extLst>
                <a:ext uri="{FF2B5EF4-FFF2-40B4-BE49-F238E27FC236}">
                  <a16:creationId xmlns:a16="http://schemas.microsoft.com/office/drawing/2014/main" id="{FD500365-FF2B-BD97-E160-2EE37926D791}"/>
                </a:ext>
              </a:extLst>
            </p:cNvPr>
            <p:cNvSpPr/>
            <p:nvPr/>
          </p:nvSpPr>
          <p:spPr>
            <a:xfrm>
              <a:off x="1320120" y="3149771"/>
              <a:ext cx="218092" cy="218092"/>
            </a:xfrm>
            <a:prstGeom prst="ellipse">
              <a:avLst/>
            </a:prstGeom>
            <a:solidFill>
              <a:schemeClr val="accent4"/>
            </a:soli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0" name="Oval 9" descr="pontos de extremidade da linha do tempo">
              <a:extLst>
                <a:ext uri="{FF2B5EF4-FFF2-40B4-BE49-F238E27FC236}">
                  <a16:creationId xmlns:a16="http://schemas.microsoft.com/office/drawing/2014/main" id="{34C8CF17-1B0C-28D1-6E4D-5187FFFDCE2D}"/>
                </a:ext>
              </a:extLst>
            </p:cNvPr>
            <p:cNvSpPr/>
            <p:nvPr/>
          </p:nvSpPr>
          <p:spPr>
            <a:xfrm>
              <a:off x="10480529" y="3149771"/>
              <a:ext cx="218092" cy="218092"/>
            </a:xfrm>
            <a:prstGeom prst="ellipse">
              <a:avLst/>
            </a:prstGeom>
            <a:solidFill>
              <a:schemeClr val="accent3"/>
            </a:solidFill>
            <a:ln w="762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rgbClr val="20A472"/>
                </a:solidFill>
              </a:endParaRPr>
            </a:p>
          </p:txBody>
        </p:sp>
      </p:grp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488AC32E-428F-9A0A-3195-B3423A2C93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80355" y="2660943"/>
            <a:ext cx="1161288" cy="1161288"/>
          </a:xfrm>
          <a:prstGeom prst="ellipse">
            <a:avLst/>
          </a:prstGeom>
          <a:ln w="38100">
            <a:solidFill>
              <a:schemeClr val="accent4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pt-BR" sz="3200" cap="all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lang="pt-BR" sz="1600"/>
            </a:lvl2pPr>
            <a:lvl3pPr marL="914400" indent="0" algn="ctr">
              <a:buNone/>
              <a:defRPr lang="pt-BR" sz="1400"/>
            </a:lvl3pPr>
            <a:lvl4pPr marL="1371600" indent="0" algn="ctr">
              <a:buNone/>
              <a:defRPr lang="pt-BR" sz="1200"/>
            </a:lvl4pPr>
            <a:lvl5pPr marL="1828800" indent="0" algn="ctr">
              <a:buNone/>
              <a:defRPr lang="pt-BR" sz="1200"/>
            </a:lvl5pPr>
          </a:lstStyle>
          <a:p>
            <a:pPr lvl="0" rtl="0"/>
            <a:r>
              <a:rPr lang="pt-BR"/>
              <a:t>P1</a:t>
            </a:r>
          </a:p>
        </p:txBody>
      </p:sp>
      <p:sp>
        <p:nvSpPr>
          <p:cNvPr id="18" name="Espaço Reservado para Texto 48">
            <a:extLst>
              <a:ext uri="{FF2B5EF4-FFF2-40B4-BE49-F238E27FC236}">
                <a16:creationId xmlns:a16="http://schemas.microsoft.com/office/drawing/2014/main" id="{D127D48E-3E09-48C7-AB33-FBD643EFA5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3914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lang="pt-BR" sz="2000" b="1" cap="all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lang="pt-BR" sz="1800"/>
            </a:lvl2pPr>
            <a:lvl3pPr marL="914400" indent="0">
              <a:buNone/>
              <a:defRPr lang="pt-BR" sz="18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19" name="Espaço Reservado para Texto 50">
            <a:extLst>
              <a:ext uri="{FF2B5EF4-FFF2-40B4-BE49-F238E27FC236}">
                <a16:creationId xmlns:a16="http://schemas.microsoft.com/office/drawing/2014/main" id="{A1B91BF4-B790-4F67-98EB-FE905527BF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3914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pt-BR" sz="1200">
                <a:solidFill>
                  <a:schemeClr val="tx1"/>
                </a:solidFill>
              </a:defRPr>
            </a:lvl1pPr>
            <a:lvl2pPr marL="457200" indent="0">
              <a:buNone/>
              <a:defRPr lang="pt-BR" sz="1100"/>
            </a:lvl2pPr>
            <a:lvl3pPr marL="914400" indent="0">
              <a:buNone/>
              <a:defRPr lang="pt-BR" sz="1100"/>
            </a:lvl3pPr>
            <a:lvl4pPr marL="1371600" indent="0">
              <a:buNone/>
              <a:defRPr lang="pt-BR" sz="1100"/>
            </a:lvl4pPr>
            <a:lvl5pPr marL="1828800" indent="0">
              <a:buNone/>
              <a:defRPr lang="pt-BR" sz="11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38A1666A-610A-35B4-038A-027C26F293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9505" y="2660943"/>
            <a:ext cx="1161288" cy="1161288"/>
          </a:xfrm>
          <a:prstGeom prst="ellipse">
            <a:avLst/>
          </a:prstGeom>
          <a:ln w="38100">
            <a:solidFill>
              <a:schemeClr val="accent5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pt-BR" sz="3200" cap="all" baseline="0">
                <a:solidFill>
                  <a:schemeClr val="accent5"/>
                </a:solidFill>
              </a:defRPr>
            </a:lvl1pPr>
            <a:lvl2pPr marL="457200" indent="0" algn="ctr">
              <a:buNone/>
              <a:defRPr lang="pt-BR" sz="1600"/>
            </a:lvl2pPr>
            <a:lvl3pPr marL="914400" indent="0" algn="ctr">
              <a:buNone/>
              <a:defRPr lang="pt-BR" sz="1400"/>
            </a:lvl3pPr>
            <a:lvl4pPr marL="1371600" indent="0" algn="ctr">
              <a:buNone/>
              <a:defRPr lang="pt-BR" sz="1200"/>
            </a:lvl4pPr>
            <a:lvl5pPr marL="1828800" indent="0" algn="ctr">
              <a:buNone/>
              <a:defRPr lang="pt-BR" sz="1200"/>
            </a:lvl5pPr>
          </a:lstStyle>
          <a:p>
            <a:pPr lvl="0" rtl="0"/>
            <a:r>
              <a:rPr lang="pt-BR"/>
              <a:t>P2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CCA5F33F-1634-427F-92BF-99A5ED52A4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34076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lang="pt-BR"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lang="pt-BR" sz="1800"/>
            </a:lvl2pPr>
            <a:lvl3pPr marL="914400" indent="0">
              <a:buNone/>
              <a:defRPr lang="pt-BR" sz="18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21" name="Espaço Reservado para Texto 50">
            <a:extLst>
              <a:ext uri="{FF2B5EF4-FFF2-40B4-BE49-F238E27FC236}">
                <a16:creationId xmlns:a16="http://schemas.microsoft.com/office/drawing/2014/main" id="{084F28D2-C99C-44DC-95CF-A18847F3B6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34076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pt-BR" sz="1200">
                <a:solidFill>
                  <a:schemeClr val="tx1"/>
                </a:solidFill>
              </a:defRPr>
            </a:lvl1pPr>
            <a:lvl2pPr marL="457200" indent="0">
              <a:buNone/>
              <a:defRPr lang="pt-BR" sz="1100"/>
            </a:lvl2pPr>
            <a:lvl3pPr marL="914400" indent="0">
              <a:buNone/>
              <a:defRPr lang="pt-BR" sz="1100"/>
            </a:lvl3pPr>
            <a:lvl4pPr marL="1371600" indent="0">
              <a:buNone/>
              <a:defRPr lang="pt-BR" sz="1100"/>
            </a:lvl4pPr>
            <a:lvl5pPr marL="1828800" indent="0">
              <a:buNone/>
              <a:defRPr lang="pt-BR" sz="11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4" name="Espaço Reservado para Texto 11">
            <a:extLst>
              <a:ext uri="{FF2B5EF4-FFF2-40B4-BE49-F238E27FC236}">
                <a16:creationId xmlns:a16="http://schemas.microsoft.com/office/drawing/2014/main" id="{3FDDA6AC-3BDE-259D-EBBE-6A7B12A217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78655" y="2660943"/>
            <a:ext cx="1161288" cy="1161288"/>
          </a:xfrm>
          <a:prstGeom prst="ellipse">
            <a:avLst/>
          </a:prstGeom>
          <a:ln w="38100">
            <a:solidFill>
              <a:schemeClr val="accent6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pt-BR" sz="3200" cap="all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lang="pt-BR" sz="1600"/>
            </a:lvl2pPr>
            <a:lvl3pPr marL="914400" indent="0" algn="ctr">
              <a:buNone/>
              <a:defRPr lang="pt-BR" sz="1400"/>
            </a:lvl3pPr>
            <a:lvl4pPr marL="1371600" indent="0" algn="ctr">
              <a:buNone/>
              <a:defRPr lang="pt-BR" sz="1200"/>
            </a:lvl4pPr>
            <a:lvl5pPr marL="1828800" indent="0" algn="ctr">
              <a:buNone/>
              <a:defRPr lang="pt-BR" sz="1200"/>
            </a:lvl5pPr>
          </a:lstStyle>
          <a:p>
            <a:pPr lvl="0" rtl="0"/>
            <a:r>
              <a:rPr lang="pt-BR"/>
              <a:t>P3</a:t>
            </a:r>
          </a:p>
        </p:txBody>
      </p:sp>
      <p:sp>
        <p:nvSpPr>
          <p:cNvPr id="22" name="Espaço Reservado para Texto 48">
            <a:extLst>
              <a:ext uri="{FF2B5EF4-FFF2-40B4-BE49-F238E27FC236}">
                <a16:creationId xmlns:a16="http://schemas.microsoft.com/office/drawing/2014/main" id="{2402522A-E098-4FB5-B454-D6FC98D90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4238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lang="pt-BR" sz="2000" b="1" cap="all" baseline="0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lang="pt-BR" sz="1800"/>
            </a:lvl2pPr>
            <a:lvl3pPr marL="914400" indent="0">
              <a:buNone/>
              <a:defRPr lang="pt-BR" sz="18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23" name="Espaço Reservado para Texto 50">
            <a:extLst>
              <a:ext uri="{FF2B5EF4-FFF2-40B4-BE49-F238E27FC236}">
                <a16:creationId xmlns:a16="http://schemas.microsoft.com/office/drawing/2014/main" id="{18CF51EA-CDE2-4AA1-83CB-9DC6E212C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44238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pt-BR" sz="1200">
                <a:solidFill>
                  <a:schemeClr val="tx1"/>
                </a:solidFill>
              </a:defRPr>
            </a:lvl1pPr>
            <a:lvl2pPr marL="457200" indent="0">
              <a:buNone/>
              <a:defRPr lang="pt-BR" sz="1100"/>
            </a:lvl2pPr>
            <a:lvl3pPr marL="914400" indent="0">
              <a:buNone/>
              <a:defRPr lang="pt-BR" sz="1100"/>
            </a:lvl3pPr>
            <a:lvl4pPr marL="1371600" indent="0">
              <a:buNone/>
              <a:defRPr lang="pt-BR" sz="1100"/>
            </a:lvl4pPr>
            <a:lvl5pPr marL="1828800" indent="0">
              <a:buNone/>
              <a:defRPr lang="pt-BR" sz="11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5" name="Espaço Reservado para Texto 11">
            <a:extLst>
              <a:ext uri="{FF2B5EF4-FFF2-40B4-BE49-F238E27FC236}">
                <a16:creationId xmlns:a16="http://schemas.microsoft.com/office/drawing/2014/main" id="{4DFBC172-3AC7-02D5-403B-5AB8BAB349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77805" y="2644842"/>
            <a:ext cx="1161288" cy="1161288"/>
          </a:xfrm>
          <a:prstGeom prst="ellipse">
            <a:avLst/>
          </a:prstGeom>
          <a:ln w="3810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pt-BR" sz="3200" cap="all" baseline="0">
                <a:solidFill>
                  <a:schemeClr val="accent3"/>
                </a:solidFill>
              </a:defRPr>
            </a:lvl1pPr>
            <a:lvl2pPr marL="457200" indent="0" algn="ctr">
              <a:buNone/>
              <a:defRPr lang="pt-BR" sz="1600"/>
            </a:lvl2pPr>
            <a:lvl3pPr marL="914400" indent="0" algn="ctr">
              <a:buNone/>
              <a:defRPr lang="pt-BR" sz="1400"/>
            </a:lvl3pPr>
            <a:lvl4pPr marL="1371600" indent="0" algn="ctr">
              <a:buNone/>
              <a:defRPr lang="pt-BR" sz="1200"/>
            </a:lvl4pPr>
            <a:lvl5pPr marL="1828800" indent="0" algn="ctr">
              <a:buNone/>
              <a:defRPr lang="pt-BR" sz="1200"/>
            </a:lvl5pPr>
          </a:lstStyle>
          <a:p>
            <a:pPr lvl="0" rtl="0"/>
            <a:r>
              <a:rPr lang="pt-BR"/>
              <a:t>P4</a:t>
            </a:r>
          </a:p>
        </p:txBody>
      </p:sp>
      <p:sp>
        <p:nvSpPr>
          <p:cNvPr id="24" name="Espaço Reservado para Texto 48">
            <a:extLst>
              <a:ext uri="{FF2B5EF4-FFF2-40B4-BE49-F238E27FC236}">
                <a16:creationId xmlns:a16="http://schemas.microsoft.com/office/drawing/2014/main" id="{FE2BFCE7-D8D1-42B7-97F2-78B1D2CB5F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54400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lang="pt-BR" sz="20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lang="pt-BR" sz="1800"/>
            </a:lvl2pPr>
            <a:lvl3pPr marL="914400" indent="0">
              <a:buNone/>
              <a:defRPr lang="pt-BR" sz="18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25" name="Espaço Reservado para Texto 50">
            <a:extLst>
              <a:ext uri="{FF2B5EF4-FFF2-40B4-BE49-F238E27FC236}">
                <a16:creationId xmlns:a16="http://schemas.microsoft.com/office/drawing/2014/main" id="{0C4E8DE7-5691-4470-BC2C-F9F6532248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54400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pt-BR" sz="1200">
                <a:solidFill>
                  <a:schemeClr val="tx1"/>
                </a:solidFill>
              </a:defRPr>
            </a:lvl1pPr>
            <a:lvl2pPr marL="457200" indent="0">
              <a:buNone/>
              <a:defRPr lang="pt-BR" sz="1100"/>
            </a:lvl2pPr>
            <a:lvl3pPr marL="914400" indent="0">
              <a:buNone/>
              <a:defRPr lang="pt-BR" sz="1100"/>
            </a:lvl3pPr>
            <a:lvl4pPr marL="1371600" indent="0">
              <a:buNone/>
              <a:defRPr lang="pt-BR" sz="1100"/>
            </a:lvl4pPr>
            <a:lvl5pPr marL="1828800" indent="0">
              <a:buNone/>
              <a:defRPr lang="pt-BR" sz="11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75783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760" userDrawn="1">
          <p15:clr>
            <a:srgbClr val="FBAE40"/>
          </p15:clr>
        </p15:guide>
        <p15:guide id="4" pos="3984" userDrawn="1">
          <p15:clr>
            <a:srgbClr val="5ACBF0"/>
          </p15:clr>
        </p15:guide>
        <p15:guide id="5" pos="3696" userDrawn="1">
          <p15:clr>
            <a:srgbClr val="5ACBF0"/>
          </p15:clr>
        </p15:guide>
        <p15:guide id="6" pos="2064" userDrawn="1">
          <p15:clr>
            <a:srgbClr val="5ACBF0"/>
          </p15:clr>
        </p15:guide>
        <p15:guide id="7" pos="1776" userDrawn="1">
          <p15:clr>
            <a:srgbClr val="5ACBF0"/>
          </p15:clr>
        </p15:guide>
        <p15:guide id="8" pos="5616" userDrawn="1">
          <p15:clr>
            <a:srgbClr val="5ACBF0"/>
          </p15:clr>
        </p15:guide>
        <p15:guide id="9" pos="5904" userDrawn="1">
          <p15:clr>
            <a:srgbClr val="5ACBF0"/>
          </p15:clr>
        </p15:guide>
        <p15:guide id="10" pos="144" userDrawn="1">
          <p15:clr>
            <a:srgbClr val="5ACBF0"/>
          </p15:clr>
        </p15:guide>
        <p15:guide id="11" orient="horz" pos="4176" userDrawn="1">
          <p15:clr>
            <a:srgbClr val="5ACBF0"/>
          </p15:clr>
        </p15:guide>
        <p15:guide id="12" pos="7536" userDrawn="1">
          <p15:clr>
            <a:srgbClr val="5ACBF0"/>
          </p15:clr>
        </p15:guide>
        <p15:guide id="13" orient="horz" pos="144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o 30">
            <a:extLst>
              <a:ext uri="{FF2B5EF4-FFF2-40B4-BE49-F238E27FC236}">
                <a16:creationId xmlns:a16="http://schemas.microsoft.com/office/drawing/2014/main" id="{579F1F0E-8DF0-62EB-B3C8-C6E1AEA0259F}"/>
              </a:ext>
            </a:extLst>
          </p:cNvPr>
          <p:cNvGrpSpPr/>
          <p:nvPr userDrawn="1"/>
        </p:nvGrpSpPr>
        <p:grpSpPr>
          <a:xfrm>
            <a:off x="455731" y="830376"/>
            <a:ext cx="11356754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32" name="Paralelogramo 31">
              <a:extLst>
                <a:ext uri="{FF2B5EF4-FFF2-40B4-BE49-F238E27FC236}">
                  <a16:creationId xmlns:a16="http://schemas.microsoft.com/office/drawing/2014/main" id="{24CC1C1D-653F-14A0-54A0-6492ABCC273D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3" name="Paralelogramo 32">
              <a:extLst>
                <a:ext uri="{FF2B5EF4-FFF2-40B4-BE49-F238E27FC236}">
                  <a16:creationId xmlns:a16="http://schemas.microsoft.com/office/drawing/2014/main" id="{92049B2C-54AB-505F-2572-7CD19C3D968A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4" name="Paralelogramo 33">
              <a:extLst>
                <a:ext uri="{FF2B5EF4-FFF2-40B4-BE49-F238E27FC236}">
                  <a16:creationId xmlns:a16="http://schemas.microsoft.com/office/drawing/2014/main" id="{E23FD261-2FDC-1CD9-A732-906B64F405AB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5" name="Paralelogramo 34">
              <a:extLst>
                <a:ext uri="{FF2B5EF4-FFF2-40B4-BE49-F238E27FC236}">
                  <a16:creationId xmlns:a16="http://schemas.microsoft.com/office/drawing/2014/main" id="{B90AE363-FA57-0E86-3B4F-5E0A0806185D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6" name="Paralelogramo 35">
              <a:extLst>
                <a:ext uri="{FF2B5EF4-FFF2-40B4-BE49-F238E27FC236}">
                  <a16:creationId xmlns:a16="http://schemas.microsoft.com/office/drawing/2014/main" id="{4137775E-DBE1-BA92-6BCD-E9944273E622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7" name="Paralelogramo 36">
              <a:extLst>
                <a:ext uri="{FF2B5EF4-FFF2-40B4-BE49-F238E27FC236}">
                  <a16:creationId xmlns:a16="http://schemas.microsoft.com/office/drawing/2014/main" id="{969524EC-636E-4802-109E-EE71B9D4EB96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8" name="Paralelogramo 37">
              <a:extLst>
                <a:ext uri="{FF2B5EF4-FFF2-40B4-BE49-F238E27FC236}">
                  <a16:creationId xmlns:a16="http://schemas.microsoft.com/office/drawing/2014/main" id="{A03E2BFD-896B-BEC0-29BD-917248BCC6E8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9" name="Paralelogramo 38">
              <a:extLst>
                <a:ext uri="{FF2B5EF4-FFF2-40B4-BE49-F238E27FC236}">
                  <a16:creationId xmlns:a16="http://schemas.microsoft.com/office/drawing/2014/main" id="{849527DE-31CB-858E-9758-616F93A85AE1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0" name="Paralelogramo 39">
              <a:extLst>
                <a:ext uri="{FF2B5EF4-FFF2-40B4-BE49-F238E27FC236}">
                  <a16:creationId xmlns:a16="http://schemas.microsoft.com/office/drawing/2014/main" id="{87C850F0-0452-2D8B-D0FC-FBB759016D0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1" name="Paralelogramo 40">
              <a:extLst>
                <a:ext uri="{FF2B5EF4-FFF2-40B4-BE49-F238E27FC236}">
                  <a16:creationId xmlns:a16="http://schemas.microsoft.com/office/drawing/2014/main" id="{11721AD6-6F30-0F58-A50E-32AF0FFCB1F9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2" name="Paralelogramo 41">
              <a:extLst>
                <a:ext uri="{FF2B5EF4-FFF2-40B4-BE49-F238E27FC236}">
                  <a16:creationId xmlns:a16="http://schemas.microsoft.com/office/drawing/2014/main" id="{31E989A6-CA34-B2A2-552B-4FF5F76F9F40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3" name="Paralelogramo 42">
              <a:extLst>
                <a:ext uri="{FF2B5EF4-FFF2-40B4-BE49-F238E27FC236}">
                  <a16:creationId xmlns:a16="http://schemas.microsoft.com/office/drawing/2014/main" id="{6E8597AB-CD80-E7F0-F72F-40DFF3012FC5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4" name="Paralelogramo 43">
              <a:extLst>
                <a:ext uri="{FF2B5EF4-FFF2-40B4-BE49-F238E27FC236}">
                  <a16:creationId xmlns:a16="http://schemas.microsoft.com/office/drawing/2014/main" id="{B5A2B040-E43D-ED66-F37F-E956857A55FA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5" name="Paralelogramo 44">
              <a:extLst>
                <a:ext uri="{FF2B5EF4-FFF2-40B4-BE49-F238E27FC236}">
                  <a16:creationId xmlns:a16="http://schemas.microsoft.com/office/drawing/2014/main" id="{19B8B1CB-3502-9821-3B34-67B4601C88A7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6" name="Paralelogramo 45">
              <a:extLst>
                <a:ext uri="{FF2B5EF4-FFF2-40B4-BE49-F238E27FC236}">
                  <a16:creationId xmlns:a16="http://schemas.microsoft.com/office/drawing/2014/main" id="{335C657D-422D-A995-B64D-619B6A571325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</p:grp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3821D693-8EFB-0671-CF70-84C0E591B0C4}"/>
              </a:ext>
            </a:extLst>
          </p:cNvPr>
          <p:cNvCxnSpPr/>
          <p:nvPr userDrawn="1"/>
        </p:nvCxnSpPr>
        <p:spPr>
          <a:xfrm rot="10800000">
            <a:off x="455731" y="1447799"/>
            <a:ext cx="11356748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7F43CFFE-3C15-DA64-2463-80330D89A4B9}"/>
              </a:ext>
            </a:extLst>
          </p:cNvPr>
          <p:cNvCxnSpPr/>
          <p:nvPr userDrawn="1"/>
        </p:nvCxnSpPr>
        <p:spPr>
          <a:xfrm rot="10800000">
            <a:off x="455731" y="1191269"/>
            <a:ext cx="11356748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7DBBBDCC-257F-24EC-27A6-227D4593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4895" y="1984248"/>
            <a:ext cx="8003084" cy="2359152"/>
          </a:xfrm>
        </p:spPr>
        <p:txBody>
          <a:bodyPr rtlCol="0">
            <a:normAutofit/>
          </a:bodyPr>
          <a:lstStyle>
            <a:lvl1pPr algn="l">
              <a:defRPr sz="4400" spc="-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804895" y="4379976"/>
            <a:ext cx="8003084" cy="1033272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 cap="all" spc="2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da legenda Mestre</a:t>
            </a:r>
            <a:endParaRPr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F4D3A5D-9665-1463-8327-4E15CDD4E786}"/>
              </a:ext>
            </a:extLst>
          </p:cNvPr>
          <p:cNvGrpSpPr/>
          <p:nvPr userDrawn="1"/>
        </p:nvGrpSpPr>
        <p:grpSpPr>
          <a:xfrm>
            <a:off x="982511" y="2281053"/>
            <a:ext cx="2286677" cy="2295894"/>
            <a:chOff x="982255" y="2281053"/>
            <a:chExt cx="2286082" cy="2295894"/>
          </a:xfrm>
        </p:grpSpPr>
        <p:pic>
          <p:nvPicPr>
            <p:cNvPr id="6" name="Elemento gráfico 5">
              <a:extLst>
                <a:ext uri="{FF2B5EF4-FFF2-40B4-BE49-F238E27FC236}">
                  <a16:creationId xmlns:a16="http://schemas.microsoft.com/office/drawing/2014/main" id="{B5C18144-9323-970D-DF65-B42D339F53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82255" y="2281053"/>
              <a:ext cx="2286082" cy="2295894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92D720A-50F8-524A-E72A-32B073A15EA3}"/>
                </a:ext>
              </a:extLst>
            </p:cNvPr>
            <p:cNvSpPr/>
            <p:nvPr/>
          </p:nvSpPr>
          <p:spPr>
            <a:xfrm>
              <a:off x="1793080" y="3120710"/>
              <a:ext cx="691763" cy="69176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</p:grp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9542C9E-426B-E68F-C132-EDEAD07A758E}"/>
              </a:ext>
            </a:extLst>
          </p:cNvPr>
          <p:cNvCxnSpPr/>
          <p:nvPr userDrawn="1"/>
        </p:nvCxnSpPr>
        <p:spPr>
          <a:xfrm rot="10800000">
            <a:off x="455730" y="831038"/>
            <a:ext cx="1135674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upo 49">
            <a:extLst>
              <a:ext uri="{FF2B5EF4-FFF2-40B4-BE49-F238E27FC236}">
                <a16:creationId xmlns:a16="http://schemas.microsoft.com/office/drawing/2014/main" id="{FA1E96BB-4B51-AF19-15EA-803FCE1BCA9E}"/>
              </a:ext>
            </a:extLst>
          </p:cNvPr>
          <p:cNvGrpSpPr/>
          <p:nvPr userDrawn="1"/>
        </p:nvGrpSpPr>
        <p:grpSpPr>
          <a:xfrm>
            <a:off x="455730" y="5661787"/>
            <a:ext cx="11356754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51" name="Paralelogramo 50">
              <a:extLst>
                <a:ext uri="{FF2B5EF4-FFF2-40B4-BE49-F238E27FC236}">
                  <a16:creationId xmlns:a16="http://schemas.microsoft.com/office/drawing/2014/main" id="{44788C66-17F7-D9FE-31CB-95EE947F964B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2" name="Paralelogramo 51">
              <a:extLst>
                <a:ext uri="{FF2B5EF4-FFF2-40B4-BE49-F238E27FC236}">
                  <a16:creationId xmlns:a16="http://schemas.microsoft.com/office/drawing/2014/main" id="{31B611EC-0253-A614-C481-A1FCD9B63143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3" name="Paralelogramo 52">
              <a:extLst>
                <a:ext uri="{FF2B5EF4-FFF2-40B4-BE49-F238E27FC236}">
                  <a16:creationId xmlns:a16="http://schemas.microsoft.com/office/drawing/2014/main" id="{03E97C15-99B2-C628-FF01-1760B604D9C8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4" name="Paralelogramo 53">
              <a:extLst>
                <a:ext uri="{FF2B5EF4-FFF2-40B4-BE49-F238E27FC236}">
                  <a16:creationId xmlns:a16="http://schemas.microsoft.com/office/drawing/2014/main" id="{2AEDCD07-A50E-9AD7-7C5F-E6A58BDF0E00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5" name="Paralelogramo 54">
              <a:extLst>
                <a:ext uri="{FF2B5EF4-FFF2-40B4-BE49-F238E27FC236}">
                  <a16:creationId xmlns:a16="http://schemas.microsoft.com/office/drawing/2014/main" id="{2E1F0CA3-2F0D-C8C9-A26C-A94E8F9D5A6B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6" name="Paralelogramo 55">
              <a:extLst>
                <a:ext uri="{FF2B5EF4-FFF2-40B4-BE49-F238E27FC236}">
                  <a16:creationId xmlns:a16="http://schemas.microsoft.com/office/drawing/2014/main" id="{D2E8B704-7C74-5ABD-8551-0F18687DB3AD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7" name="Paralelogramo 56">
              <a:extLst>
                <a:ext uri="{FF2B5EF4-FFF2-40B4-BE49-F238E27FC236}">
                  <a16:creationId xmlns:a16="http://schemas.microsoft.com/office/drawing/2014/main" id="{4DD0D25B-B68E-52C8-F485-82EFD6F534D3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8" name="Paralelogramo 57">
              <a:extLst>
                <a:ext uri="{FF2B5EF4-FFF2-40B4-BE49-F238E27FC236}">
                  <a16:creationId xmlns:a16="http://schemas.microsoft.com/office/drawing/2014/main" id="{C0F9169B-78AC-E723-9732-25A301F5157B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9" name="Paralelogramo 58">
              <a:extLst>
                <a:ext uri="{FF2B5EF4-FFF2-40B4-BE49-F238E27FC236}">
                  <a16:creationId xmlns:a16="http://schemas.microsoft.com/office/drawing/2014/main" id="{D44E897D-3BAE-3070-F317-7B773773638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0" name="Paralelogramo 59">
              <a:extLst>
                <a:ext uri="{FF2B5EF4-FFF2-40B4-BE49-F238E27FC236}">
                  <a16:creationId xmlns:a16="http://schemas.microsoft.com/office/drawing/2014/main" id="{D12434D8-E614-02C4-35C5-5A8210624C5D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1" name="Paralelogramo 60">
              <a:extLst>
                <a:ext uri="{FF2B5EF4-FFF2-40B4-BE49-F238E27FC236}">
                  <a16:creationId xmlns:a16="http://schemas.microsoft.com/office/drawing/2014/main" id="{25D0EC30-F0CD-7028-07C6-31A0A46F5687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2" name="Paralelogramo 61">
              <a:extLst>
                <a:ext uri="{FF2B5EF4-FFF2-40B4-BE49-F238E27FC236}">
                  <a16:creationId xmlns:a16="http://schemas.microsoft.com/office/drawing/2014/main" id="{15C53FD7-0571-AFB4-76B8-C165647B0CF8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3" name="Paralelogramo 62">
              <a:extLst>
                <a:ext uri="{FF2B5EF4-FFF2-40B4-BE49-F238E27FC236}">
                  <a16:creationId xmlns:a16="http://schemas.microsoft.com/office/drawing/2014/main" id="{F8C6A87F-6FA6-0F77-131A-0AE2A7E5FEBB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4" name="Paralelogramo 63">
              <a:extLst>
                <a:ext uri="{FF2B5EF4-FFF2-40B4-BE49-F238E27FC236}">
                  <a16:creationId xmlns:a16="http://schemas.microsoft.com/office/drawing/2014/main" id="{4696A920-0DEB-EB7A-DD1B-6ECABD381673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5" name="Paralelogramo 64">
              <a:extLst>
                <a:ext uri="{FF2B5EF4-FFF2-40B4-BE49-F238E27FC236}">
                  <a16:creationId xmlns:a16="http://schemas.microsoft.com/office/drawing/2014/main" id="{FFD56427-82E5-DFD7-1956-AEFF3610C52D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965F467F-C705-E684-A579-DB2879650B17}"/>
              </a:ext>
            </a:extLst>
          </p:cNvPr>
          <p:cNvGrpSpPr/>
          <p:nvPr userDrawn="1"/>
        </p:nvGrpSpPr>
        <p:grpSpPr>
          <a:xfrm>
            <a:off x="455736" y="5410201"/>
            <a:ext cx="11356749" cy="616755"/>
            <a:chOff x="760415" y="7127111"/>
            <a:chExt cx="10286999" cy="1148707"/>
          </a:xfrm>
        </p:grpSpPr>
        <p:cxnSp>
          <p:nvCxnSpPr>
            <p:cNvPr id="67" name="Conector Reto 66">
              <a:extLst>
                <a:ext uri="{FF2B5EF4-FFF2-40B4-BE49-F238E27FC236}">
                  <a16:creationId xmlns:a16="http://schemas.microsoft.com/office/drawing/2014/main" id="{2F18B3D9-7217-BFE4-FE9A-DEDDDB26C748}"/>
                </a:ext>
              </a:extLst>
            </p:cNvPr>
            <p:cNvCxnSpPr/>
            <p:nvPr/>
          </p:nvCxnSpPr>
          <p:spPr>
            <a:xfrm>
              <a:off x="760416" y="8275818"/>
              <a:ext cx="10286997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to 67">
              <a:extLst>
                <a:ext uri="{FF2B5EF4-FFF2-40B4-BE49-F238E27FC236}">
                  <a16:creationId xmlns:a16="http://schemas.microsoft.com/office/drawing/2014/main" id="{E675D9E7-2DF6-6560-CC21-E81551E9AB0A}"/>
                </a:ext>
              </a:extLst>
            </p:cNvPr>
            <p:cNvCxnSpPr/>
            <p:nvPr/>
          </p:nvCxnSpPr>
          <p:spPr>
            <a:xfrm>
              <a:off x="760415" y="7127111"/>
              <a:ext cx="10286999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8DDEDD67-EA3D-363D-8A40-D49E5F1B4C1C}"/>
              </a:ext>
            </a:extLst>
          </p:cNvPr>
          <p:cNvCxnSpPr/>
          <p:nvPr userDrawn="1"/>
        </p:nvCxnSpPr>
        <p:spPr>
          <a:xfrm>
            <a:off x="455736" y="5666723"/>
            <a:ext cx="1135674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33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9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haskell.org/saved/lexsPux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411" y="734391"/>
            <a:ext cx="67256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126" dirty="0">
                <a:solidFill>
                  <a:srgbClr val="22D3EE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PARADIGMAS DE LINGUAGENS DE PROGRAMAÇÃO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848687" y="1180036"/>
            <a:ext cx="6116088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22" dirty="0">
                <a:solidFill>
                  <a:srgbClr val="E6F1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Avaliador de Expressões Aritméticas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48688" y="3066392"/>
            <a:ext cx="6194914" cy="509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2600" dirty="0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Uma </a:t>
            </a:r>
            <a:r>
              <a:rPr lang="en-US" sz="2600" dirty="0" err="1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abordagem</a:t>
            </a:r>
            <a:r>
              <a:rPr lang="en-US" sz="2600" dirty="0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</a:t>
            </a:r>
            <a:r>
              <a:rPr lang="en-US" sz="2600" dirty="0" err="1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funcional</a:t>
            </a:r>
            <a:r>
              <a:rPr lang="en-US" sz="2600" dirty="0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com Haskell</a:t>
            </a:r>
            <a:endParaRPr lang="en-US" sz="2600" dirty="0"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88101" y="3707754"/>
            <a:ext cx="6116088" cy="190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377" y="3915990"/>
            <a:ext cx="298184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8FA8C8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INTEGRANTES</a:t>
            </a:r>
            <a:endParaRPr lang="en-US" sz="2000" b="1">
              <a:latin typeface="IBM Plex Sans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377" y="4403275"/>
            <a:ext cx="29818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ct val="117000"/>
              </a:lnSpc>
            </a:pPr>
            <a:r>
              <a:rPr lang="en-US" sz="2200" b="1">
                <a:solidFill>
                  <a:srgbClr val="D3E2F5"/>
                </a:solidFill>
                <a:latin typeface="IBM Plex Sans Bold"/>
                <a:ea typeface="IBM Plex Sans Bold" pitchFamily="34" charset="-122"/>
                <a:cs typeface="IBM Plex Sans Bold" pitchFamily="34" charset="0"/>
              </a:rPr>
              <a:t>Gustavo Gimenez</a:t>
            </a:r>
            <a:endParaRPr lang="en-US" sz="2200" dirty="0">
              <a:solidFill>
                <a:srgbClr val="000000"/>
              </a:solidFill>
              <a:latin typeface="IBM Plex Sans Bold"/>
              <a:ea typeface="IBM Plex Sans Bold" pitchFamily="34" charset="-122"/>
              <a:cs typeface="IBM Plex Sans Bold" pitchFamily="34" charset="0"/>
            </a:endParaRPr>
          </a:p>
          <a:p>
            <a:pPr>
              <a:lnSpc>
                <a:spcPct val="117000"/>
              </a:lnSpc>
            </a:pPr>
            <a:r>
              <a:rPr lang="en-US" sz="2200" b="1" dirty="0">
                <a:solidFill>
                  <a:srgbClr val="D3E2F5"/>
                </a:solidFill>
                <a:latin typeface="IBM Plex Sans Bold"/>
                <a:ea typeface="IBM Plex Sans Bold" pitchFamily="34" charset="-122"/>
                <a:cs typeface="IBM Plex Sans Bold" pitchFamily="34" charset="0"/>
              </a:rPr>
              <a:t>Joaõ Pedro</a:t>
            </a:r>
            <a:r>
              <a:rPr lang="en-US" sz="2200" b="1">
                <a:solidFill>
                  <a:srgbClr val="D3E2F5"/>
                </a:solidFill>
                <a:latin typeface="IBM Plex Sans Bold"/>
                <a:ea typeface="IBM Plex Sans Bold" pitchFamily="34" charset="-122"/>
                <a:cs typeface="IBM Plex Sans Bold" pitchFamily="34" charset="0"/>
              </a:rPr>
              <a:t> Campos Santos</a:t>
            </a:r>
            <a:endParaRPr lang="en-US" sz="2200" dirty="0">
              <a:solidFill>
                <a:srgbClr val="000000"/>
              </a:solidFill>
              <a:latin typeface="IBM Plex Sans Bold"/>
              <a:ea typeface="IBM Plex Sans Bold" pitchFamily="34" charset="-122"/>
              <a:cs typeface="IBM Plex Sans Bold" pitchFamily="34" charset="0"/>
            </a:endParaRPr>
          </a:p>
          <a:p>
            <a:pPr>
              <a:lnSpc>
                <a:spcPct val="117000"/>
              </a:lnSpc>
            </a:pPr>
            <a:r>
              <a:rPr lang="en-US" sz="2200" b="1" dirty="0">
                <a:solidFill>
                  <a:srgbClr val="D3E2F5"/>
                </a:solidFill>
                <a:latin typeface="IBM Plex Sans Bold"/>
                <a:ea typeface="IBM Plex Sans Bold" pitchFamily="34" charset="-122"/>
                <a:cs typeface="IBM Plex Sans Bold" pitchFamily="34" charset="0"/>
              </a:rPr>
              <a:t>Marcelo Martins Farinasso </a:t>
            </a:r>
            <a:r>
              <a:rPr lang="en-US" sz="2200" b="1">
                <a:solidFill>
                  <a:srgbClr val="D3E2F5"/>
                </a:solidFill>
                <a:latin typeface="IBM Plex Sans Bold"/>
                <a:ea typeface="IBM Plex Sans Bold" pitchFamily="34" charset="-122"/>
                <a:cs typeface="IBM Plex Sans Bold" pitchFamily="34" charset="0"/>
              </a:rPr>
              <a:t>Júnior</a:t>
            </a:r>
            <a:endParaRPr lang="en-US" sz="2200" b="1" dirty="0">
              <a:solidFill>
                <a:srgbClr val="D3E2F5"/>
              </a:solidFill>
              <a:latin typeface="IBM Plex Sans Bold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79998" y="3915990"/>
            <a:ext cx="298184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INSTITUIÇÃO</a:t>
            </a:r>
            <a:endParaRPr lang="en-US" sz="2000" b="1">
              <a:latin typeface="IBM Plex Sans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79998" y="4403276"/>
            <a:ext cx="298184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>
                <a:solidFill>
                  <a:srgbClr val="D3E2F5"/>
                </a:solidFill>
                <a:latin typeface="IBM Plex Sans Bold"/>
              </a:rPr>
              <a:t>UNICID</a:t>
            </a:r>
            <a:endParaRPr lang="en-US" sz="1500">
              <a:latin typeface="IBM Plex Sans Bol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40049" y="304800"/>
            <a:ext cx="4246754" cy="6248400"/>
          </a:xfrm>
          <a:prstGeom prst="rect">
            <a:avLst/>
          </a:prstGeom>
          <a:solidFill>
            <a:srgbClr val="0B1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650310" y="2669650"/>
            <a:ext cx="223147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126" dirty="0">
                <a:solidFill>
                  <a:srgbClr val="986EF7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EXPRESSÃO EXEMPLO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69686" y="3064768"/>
            <a:ext cx="3738767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b="1" kern="100" spc="2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(2+4)-(4/2)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57958" y="3713103"/>
            <a:ext cx="3728845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Avaliação recursiva direta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7045744" cy="6248400"/>
          </a:xfrm>
          <a:prstGeom prst="rect">
            <a:avLst/>
          </a:prstGeom>
          <a:solidFill>
            <a:srgbClr val="0B1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1401" y="609532"/>
            <a:ext cx="6029769" cy="536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50" b="1" kern="100" spc="19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O que vamos apresentar?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12780" y="1390650"/>
            <a:ext cx="814268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358568" y="1269113"/>
            <a:ext cx="5483981" cy="434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Paradigmas: funcional e imperativo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12780" y="2282329"/>
            <a:ext cx="814268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58568" y="2160792"/>
            <a:ext cx="5483981" cy="868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linguagem Haskell e suas características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12780" y="3424556"/>
            <a:ext cx="814268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58568" y="3421260"/>
            <a:ext cx="5483981" cy="868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 desafio de interpretar expressões matemáticas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12780" y="4540507"/>
            <a:ext cx="814268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58568" y="4629177"/>
            <a:ext cx="5483981" cy="868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organização e a execução da solução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12780" y="5998043"/>
            <a:ext cx="814268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58568" y="5823956"/>
            <a:ext cx="5483981" cy="434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Comparação com Python e conclusão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7807626" y="304800"/>
            <a:ext cx="4079178" cy="6248400"/>
          </a:xfrm>
          <a:prstGeom prst="rect">
            <a:avLst/>
          </a:prstGeom>
          <a:solidFill>
            <a:srgbClr val="050A1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867" y="1615524"/>
            <a:ext cx="3561559" cy="37846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1374" y="754834"/>
            <a:ext cx="10616934" cy="28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50" kern="100" spc="208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PARADIGMAS DE PROGRAMAÇÃO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041374" y="1243282"/>
            <a:ext cx="10108947" cy="4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50" b="1" kern="100" spc="17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Duas maneiras de organizar a solução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041374" y="1959250"/>
            <a:ext cx="10616934" cy="34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Jeitos diferentes de resolver o mesmo problema.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33387" y="2668191"/>
            <a:ext cx="5410065" cy="3958233"/>
          </a:xfrm>
          <a:prstGeom prst="rect">
            <a:avLst/>
          </a:prstGeom>
          <a:solidFill>
            <a:srgbClr val="3A0B12"/>
          </a:solidFill>
          <a:ln w="63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44529" y="2916996"/>
            <a:ext cx="5098922" cy="28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50" kern="100" spc="208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ESTILO IMPERATIVO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44529" y="3273737"/>
            <a:ext cx="4787780" cy="363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1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Foco no "como fazer"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4529" y="3712644"/>
            <a:ext cx="5098922" cy="34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Passo a passo no tempo.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4529" y="4175522"/>
            <a:ext cx="4787780" cy="67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Sequência de comandos</a:t>
            </a:r>
            <a:endParaRPr lang="en-US" sz="1200" dirty="0"/>
          </a:p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Estado muda a cada passo</a:t>
            </a:r>
            <a:endParaRPr lang="en-US" sz="1200" dirty="0"/>
          </a:p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Laços: for, while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4529" y="5171182"/>
            <a:ext cx="4787780" cy="1047055"/>
          </a:xfrm>
          <a:prstGeom prst="roundRect">
            <a:avLst>
              <a:gd name="adj" fmla="val 13240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29270" y="5325170"/>
            <a:ext cx="4418299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Passo a passo com acumulador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resultado = 2 + 4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resultado = resultado - (4 // 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8244" y="2668191"/>
            <a:ext cx="5410065" cy="3958233"/>
          </a:xfrm>
          <a:prstGeom prst="rect">
            <a:avLst/>
          </a:prstGeom>
          <a:solidFill>
            <a:srgbClr val="3A0B12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559386" y="2916996"/>
            <a:ext cx="5098922" cy="28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50" kern="100" spc="208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ESTILO FUNCIONAL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559386" y="3273737"/>
            <a:ext cx="4787780" cy="363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1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Foco no "o que calcular"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59386" y="3712644"/>
            <a:ext cx="5098922" cy="34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Expressões puras.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59386" y="4175522"/>
            <a:ext cx="4787780" cy="67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Funções encadeadas</a:t>
            </a:r>
            <a:endParaRPr lang="en-US" sz="1200" dirty="0"/>
          </a:p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Dados imutáveis</a:t>
            </a:r>
            <a:endParaRPr lang="en-US" sz="1200" dirty="0"/>
          </a:p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Recursão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59386" y="5171182"/>
            <a:ext cx="4787780" cy="1047055"/>
          </a:xfrm>
          <a:prstGeom prst="roundRect">
            <a:avLst>
              <a:gd name="adj" fmla="val 13240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744127" y="5325170"/>
            <a:ext cx="4418299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-- Avaliação por redução de expressão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eval :: String -&gt; Int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eval expr = sub (eval left) (eval right)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4135036" cy="6248400"/>
          </a:xfrm>
          <a:prstGeom prst="rect">
            <a:avLst/>
          </a:prstGeom>
          <a:solidFill>
            <a:srgbClr val="3A0B1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61981" y="1698402"/>
            <a:ext cx="367784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800" kern="100" spc="215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FUNDAMENTOS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1981" y="2100372"/>
            <a:ext cx="3220659" cy="501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950" b="1" kern="100" spc="2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Haskell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761981" y="2704909"/>
            <a:ext cx="3677848" cy="393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Linguagem funcional.</a:t>
            </a:r>
            <a:endParaRPr lang="en-US" sz="2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3264694"/>
            <a:ext cx="1904952" cy="1905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4522" y="304800"/>
            <a:ext cx="7142381" cy="6248400"/>
          </a:xfrm>
          <a:prstGeom prst="rect">
            <a:avLst/>
          </a:prstGeom>
          <a:solidFill>
            <a:srgbClr val="1A05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201710" y="247030"/>
            <a:ext cx="66851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800" kern="100" spc="215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CARACTERÍSTICAS DA LINGUAGEM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01710" y="623430"/>
            <a:ext cx="6228004" cy="90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50" b="1" kern="100" spc="16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Estrutura e princípios essenciais</a:t>
            </a:r>
            <a:endParaRPr lang="en-US" sz="3250" dirty="0"/>
          </a:p>
        </p:txBody>
      </p:sp>
      <p:sp>
        <p:nvSpPr>
          <p:cNvPr id="10" name="Shape 7"/>
          <p:cNvSpPr/>
          <p:nvPr/>
        </p:nvSpPr>
        <p:spPr>
          <a:xfrm>
            <a:off x="5201710" y="1627882"/>
            <a:ext cx="3037804" cy="2420441"/>
          </a:xfrm>
          <a:prstGeom prst="roundRect">
            <a:avLst>
              <a:gd name="adj" fmla="val 7555"/>
            </a:avLst>
          </a:prstGeom>
          <a:solidFill>
            <a:srgbClr val="1A0508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411255" y="1837432"/>
            <a:ext cx="490922" cy="49093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81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161" y="1963341"/>
            <a:ext cx="239111" cy="2391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1255" y="2437262"/>
            <a:ext cx="2618714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50" kern="100" spc="1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Origem &amp; Padrão</a:t>
            </a:r>
            <a:endParaRPr lang="en-US" sz="2350" dirty="0"/>
          </a:p>
        </p:txBody>
      </p:sp>
      <p:sp>
        <p:nvSpPr>
          <p:cNvPr id="14" name="Text 10"/>
          <p:cNvSpPr/>
          <p:nvPr/>
        </p:nvSpPr>
        <p:spPr>
          <a:xfrm>
            <a:off x="5411255" y="2852492"/>
            <a:ext cx="2618714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Criada em 1987; padrão público em 1990.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8391910" y="1627882"/>
            <a:ext cx="3037804" cy="2420441"/>
          </a:xfrm>
          <a:prstGeom prst="roundRect">
            <a:avLst>
              <a:gd name="adj" fmla="val 7555"/>
            </a:avLst>
          </a:prstGeom>
          <a:solidFill>
            <a:srgbClr val="1A0508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601455" y="1837432"/>
            <a:ext cx="490922" cy="49093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81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361" y="1963341"/>
            <a:ext cx="239111" cy="2391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01455" y="2437262"/>
            <a:ext cx="2618714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50" kern="100" spc="1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Tipagem Estática e Forte</a:t>
            </a:r>
            <a:endParaRPr lang="en-US" sz="2350" dirty="0"/>
          </a:p>
        </p:txBody>
      </p:sp>
      <p:sp>
        <p:nvSpPr>
          <p:cNvPr id="19" name="Text 14"/>
          <p:cNvSpPr/>
          <p:nvPr/>
        </p:nvSpPr>
        <p:spPr>
          <a:xfrm>
            <a:off x="8601455" y="3178227"/>
            <a:ext cx="2618714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Tipos verificados antes da execução.</a:t>
            </a:r>
            <a:endParaRPr lang="en-US" sz="1950" dirty="0"/>
          </a:p>
        </p:txBody>
      </p:sp>
      <p:sp>
        <p:nvSpPr>
          <p:cNvPr id="20" name="Shape 15"/>
          <p:cNvSpPr/>
          <p:nvPr/>
        </p:nvSpPr>
        <p:spPr>
          <a:xfrm>
            <a:off x="5201710" y="4200723"/>
            <a:ext cx="3037804" cy="2420441"/>
          </a:xfrm>
          <a:prstGeom prst="roundRect">
            <a:avLst>
              <a:gd name="adj" fmla="val 7555"/>
            </a:avLst>
          </a:prstGeom>
          <a:solidFill>
            <a:srgbClr val="1A0508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5411255" y="4410273"/>
            <a:ext cx="490922" cy="49093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81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161" y="4536182"/>
            <a:ext cx="239111" cy="23911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1255" y="5010104"/>
            <a:ext cx="2618714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50" kern="100" spc="1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Funções e Imutabilidade</a:t>
            </a:r>
            <a:endParaRPr lang="en-US" sz="2350" dirty="0"/>
          </a:p>
        </p:txBody>
      </p:sp>
      <p:sp>
        <p:nvSpPr>
          <p:cNvPr id="24" name="Text 18"/>
          <p:cNvSpPr/>
          <p:nvPr/>
        </p:nvSpPr>
        <p:spPr>
          <a:xfrm>
            <a:off x="5411255" y="5751068"/>
            <a:ext cx="282825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Conceitos centrais.</a:t>
            </a:r>
            <a:endParaRPr lang="en-US" sz="1950" dirty="0"/>
          </a:p>
        </p:txBody>
      </p:sp>
      <p:sp>
        <p:nvSpPr>
          <p:cNvPr id="25" name="Shape 19"/>
          <p:cNvSpPr/>
          <p:nvPr/>
        </p:nvSpPr>
        <p:spPr>
          <a:xfrm>
            <a:off x="8391910" y="4200723"/>
            <a:ext cx="3037804" cy="2420441"/>
          </a:xfrm>
          <a:prstGeom prst="roundRect">
            <a:avLst>
              <a:gd name="adj" fmla="val 7555"/>
            </a:avLst>
          </a:prstGeom>
          <a:solidFill>
            <a:srgbClr val="1A0508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8601455" y="4410273"/>
            <a:ext cx="490922" cy="49093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81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7361" y="4536182"/>
            <a:ext cx="239111" cy="23911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01455" y="5010104"/>
            <a:ext cx="2618714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50" kern="100" spc="1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Avaliação Preguiçosa</a:t>
            </a:r>
            <a:endParaRPr lang="en-US" sz="2350" dirty="0"/>
          </a:p>
        </p:txBody>
      </p:sp>
      <p:sp>
        <p:nvSpPr>
          <p:cNvPr id="29" name="Text 22"/>
          <p:cNvSpPr/>
          <p:nvPr/>
        </p:nvSpPr>
        <p:spPr>
          <a:xfrm>
            <a:off x="8601455" y="5751068"/>
            <a:ext cx="2618714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Calculada só quando necessária.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1374" y="851614"/>
            <a:ext cx="10616934" cy="13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100" spc="1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ANÁLISE DE EXPRESSÕES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1374" y="1160250"/>
            <a:ext cx="10108947" cy="44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16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Interpretar um texto não é só somar números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41374" y="1716317"/>
            <a:ext cx="10616934" cy="331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Uma calculadora simples não resolve isso.</a:t>
            </a:r>
            <a:endParaRPr lang="en-US" sz="2050" dirty="0"/>
          </a:p>
        </p:txBody>
      </p:sp>
      <p:sp>
        <p:nvSpPr>
          <p:cNvPr id="6" name="Shape 3"/>
          <p:cNvSpPr/>
          <p:nvPr/>
        </p:nvSpPr>
        <p:spPr>
          <a:xfrm>
            <a:off x="533387" y="5281712"/>
            <a:ext cx="3606710" cy="1321197"/>
          </a:xfrm>
          <a:prstGeom prst="roundRect">
            <a:avLst>
              <a:gd name="adj" fmla="val 13842"/>
            </a:avLst>
          </a:prstGeom>
          <a:solidFill>
            <a:srgbClr val="0F1830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68331" y="5489244"/>
            <a:ext cx="313682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5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Identificar Tokens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768331" y="5874020"/>
            <a:ext cx="3136822" cy="560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Separar números e operadores.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292493" y="5281712"/>
            <a:ext cx="3606710" cy="1321197"/>
          </a:xfrm>
          <a:prstGeom prst="roundRect">
            <a:avLst>
              <a:gd name="adj" fmla="val 13842"/>
            </a:avLst>
          </a:prstGeom>
          <a:solidFill>
            <a:srgbClr val="0F1830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527437" y="5489244"/>
            <a:ext cx="313682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5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Tratar Parênteses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4527437" y="5874020"/>
            <a:ext cx="3136822" cy="560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Resolver primeiro o que está entre parênteses.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51599" y="5281712"/>
            <a:ext cx="3606710" cy="1321197"/>
          </a:xfrm>
          <a:prstGeom prst="roundRect">
            <a:avLst>
              <a:gd name="adj" fmla="val 13842"/>
            </a:avLst>
          </a:prstGeom>
          <a:solidFill>
            <a:srgbClr val="0F1830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286543" y="5489244"/>
            <a:ext cx="313682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5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Ordem de Avaliação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8286543" y="5874020"/>
            <a:ext cx="3136822" cy="560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Multiplicação e divisão antes de soma e subtração.</a:t>
            </a:r>
            <a:endParaRPr lang="en-US" sz="1750" dirty="0"/>
          </a:p>
        </p:txBody>
      </p:sp>
      <p:pic>
        <p:nvPicPr>
          <p:cNvPr id="18" name="Image 0">
            <a:extLst>
              <a:ext uri="{FF2B5EF4-FFF2-40B4-BE49-F238E27FC236}">
                <a16:creationId xmlns:a16="http://schemas.microsoft.com/office/drawing/2014/main" id="{4B7D228C-0357-C04E-F7F4-5E8960123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2" y="2305597"/>
            <a:ext cx="10718532" cy="2238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ítulo 33">
            <a:extLst>
              <a:ext uri="{FF2B5EF4-FFF2-40B4-BE49-F238E27FC236}">
                <a16:creationId xmlns:a16="http://schemas.microsoft.com/office/drawing/2014/main" id="{F28D01B5-A5BC-45A3-8718-13BDC694F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695" y="299961"/>
            <a:ext cx="2998990" cy="118815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3600" dirty="0" err="1">
                <a:solidFill>
                  <a:schemeClr val="bg1"/>
                </a:solidFill>
              </a:rPr>
              <a:t>Metodos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27" name="Espaço Reservado para Texto 26">
            <a:extLst>
              <a:ext uri="{FF2B5EF4-FFF2-40B4-BE49-F238E27FC236}">
                <a16:creationId xmlns:a16="http://schemas.microsoft.com/office/drawing/2014/main" id="{913CE214-29C3-EA9D-3970-5DA5596A91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>
            <a:defPPr>
              <a:defRPr lang="pt-BR"/>
            </a:defPPr>
          </a:lstStyle>
          <a:p>
            <a:r>
              <a:rPr lang="pt-BR"/>
              <a:t>1</a:t>
            </a:r>
            <a:endParaRPr lang="pt-BR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6A44816B-378D-41B5-84D7-39CECE2E45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</a:t>
            </a:r>
          </a:p>
        </p:txBody>
      </p:sp>
      <p:sp>
        <p:nvSpPr>
          <p:cNvPr id="28" name="Espaço Reservado para Texto 27">
            <a:extLst>
              <a:ext uri="{FF2B5EF4-FFF2-40B4-BE49-F238E27FC236}">
                <a16:creationId xmlns:a16="http://schemas.microsoft.com/office/drawing/2014/main" id="{7A8BC552-04A5-36FD-5758-5E17CB0400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</a:t>
            </a:r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AA64E66E-DA3C-42CD-80D9-89BD3A8A4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I</a:t>
            </a:r>
          </a:p>
        </p:txBody>
      </p:sp>
      <p:sp>
        <p:nvSpPr>
          <p:cNvPr id="29" name="Espaço Reservado para Texto 28">
            <a:extLst>
              <a:ext uri="{FF2B5EF4-FFF2-40B4-BE49-F238E27FC236}">
                <a16:creationId xmlns:a16="http://schemas.microsoft.com/office/drawing/2014/main" id="{0F443B80-DE7B-85CB-3769-BFAB8DBE2E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/>
              <a:t>3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93CA8393-83FA-4B7B-BF41-CB601BA164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230153FE-8F5A-E903-AD9D-FAD7244E18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4</a:t>
            </a:r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DA3309B0-9F41-47B2-8F25-109874864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54400" y="5210963"/>
            <a:ext cx="2021176" cy="706438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F</a:t>
            </a:r>
          </a:p>
        </p:txBody>
      </p:sp>
      <p:sp>
        <p:nvSpPr>
          <p:cNvPr id="3" name="Título 33">
            <a:extLst>
              <a:ext uri="{FF2B5EF4-FFF2-40B4-BE49-F238E27FC236}">
                <a16:creationId xmlns:a16="http://schemas.microsoft.com/office/drawing/2014/main" id="{71F52037-22DF-7E03-BCF5-065116C0FA37}"/>
              </a:ext>
            </a:extLst>
          </p:cNvPr>
          <p:cNvSpPr txBox="1">
            <a:spLocks/>
          </p:cNvSpPr>
          <p:nvPr/>
        </p:nvSpPr>
        <p:spPr>
          <a:xfrm>
            <a:off x="1277571" y="1577217"/>
            <a:ext cx="2575657" cy="117605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 defTabSz="457200" rtl="0" eaLnBrk="1" latinLnBrk="0" hangingPunct="1">
              <a:spcBef>
                <a:spcPct val="0"/>
              </a:spcBef>
              <a:buNone/>
              <a:defRPr lang="pt-BR" sz="4000" kern="1200" cap="none" baseline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400" dirty="0">
                <a:solidFill>
                  <a:schemeClr val="bg1"/>
                </a:solidFill>
                <a:ea typeface="+mj-lt"/>
                <a:cs typeface="+mj-lt"/>
              </a:rPr>
              <a:t>soma a b =  a + b</a:t>
            </a:r>
            <a:endParaRPr lang="pt-BR" sz="2400" dirty="0">
              <a:ea typeface="+mj-lt"/>
              <a:cs typeface="+mj-lt"/>
            </a:endParaRPr>
          </a:p>
        </p:txBody>
      </p:sp>
      <p:sp>
        <p:nvSpPr>
          <p:cNvPr id="5" name="Título 33">
            <a:extLst>
              <a:ext uri="{FF2B5EF4-FFF2-40B4-BE49-F238E27FC236}">
                <a16:creationId xmlns:a16="http://schemas.microsoft.com/office/drawing/2014/main" id="{7562CAB7-ACC0-82BD-42FA-42C6B8CCF727}"/>
              </a:ext>
            </a:extLst>
          </p:cNvPr>
          <p:cNvSpPr txBox="1">
            <a:spLocks/>
          </p:cNvSpPr>
          <p:nvPr/>
        </p:nvSpPr>
        <p:spPr>
          <a:xfrm>
            <a:off x="3853856" y="984551"/>
            <a:ext cx="2399694" cy="117605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 defTabSz="457200" rtl="0" eaLnBrk="1" latinLnBrk="0" hangingPunct="1">
              <a:spcBef>
                <a:spcPct val="0"/>
              </a:spcBef>
              <a:buNone/>
              <a:defRPr lang="pt-BR" sz="4000" kern="1200" cap="none" baseline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400" dirty="0">
                <a:solidFill>
                  <a:schemeClr val="bg1"/>
                </a:solidFill>
                <a:ea typeface="+mj-lt"/>
                <a:cs typeface="+mj-lt"/>
              </a:rPr>
              <a:t>soma 1 2</a:t>
            </a:r>
            <a:endParaRPr lang="pt-BR" sz="2400" dirty="0">
              <a:ea typeface="+mj-lt"/>
              <a:cs typeface="+mj-lt"/>
            </a:endParaRPr>
          </a:p>
        </p:txBody>
      </p:sp>
      <p:sp>
        <p:nvSpPr>
          <p:cNvPr id="7" name="Título 33">
            <a:extLst>
              <a:ext uri="{FF2B5EF4-FFF2-40B4-BE49-F238E27FC236}">
                <a16:creationId xmlns:a16="http://schemas.microsoft.com/office/drawing/2014/main" id="{59E701A8-BD9F-8D2E-B89B-2E9BE3C95233}"/>
              </a:ext>
            </a:extLst>
          </p:cNvPr>
          <p:cNvSpPr txBox="1">
            <a:spLocks/>
          </p:cNvSpPr>
          <p:nvPr/>
        </p:nvSpPr>
        <p:spPr>
          <a:xfrm>
            <a:off x="6043093" y="1480454"/>
            <a:ext cx="2236991" cy="117605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 defTabSz="457200" rtl="0" eaLnBrk="1" latinLnBrk="0" hangingPunct="1">
              <a:spcBef>
                <a:spcPct val="0"/>
              </a:spcBef>
              <a:buNone/>
              <a:defRPr lang="pt-BR" sz="4000" kern="1200" cap="none" baseline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400" dirty="0">
                <a:solidFill>
                  <a:schemeClr val="bg1"/>
                </a:solidFill>
                <a:ea typeface="+mj-lt"/>
                <a:cs typeface="+mj-lt"/>
              </a:rPr>
              <a:t>print soma 1 2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" name="Título 33">
            <a:extLst>
              <a:ext uri="{FF2B5EF4-FFF2-40B4-BE49-F238E27FC236}">
                <a16:creationId xmlns:a16="http://schemas.microsoft.com/office/drawing/2014/main" id="{C25CAC7B-0ED8-3260-34BF-7FA31854F315}"/>
              </a:ext>
            </a:extLst>
          </p:cNvPr>
          <p:cNvSpPr txBox="1">
            <a:spLocks/>
          </p:cNvSpPr>
          <p:nvPr/>
        </p:nvSpPr>
        <p:spPr>
          <a:xfrm>
            <a:off x="8341187" y="984549"/>
            <a:ext cx="2236991" cy="117605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 defTabSz="457200" rtl="0" eaLnBrk="1" latinLnBrk="0" hangingPunct="1">
              <a:spcBef>
                <a:spcPct val="0"/>
              </a:spcBef>
              <a:buNone/>
              <a:defRPr lang="pt-BR" sz="4000" kern="1200" cap="none" baseline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400" dirty="0">
                <a:ea typeface="+mj-lt"/>
                <a:cs typeface="+mj-lt"/>
              </a:rPr>
              <a:t>print soma a b </a:t>
            </a:r>
            <a:endParaRPr lang="pt-BR" dirty="0"/>
          </a:p>
          <a:p>
            <a:r>
              <a:rPr lang="pt-BR" sz="2400" dirty="0">
                <a:solidFill>
                  <a:schemeClr val="bg1"/>
                </a:solidFill>
                <a:ea typeface="+mj-lt"/>
                <a:cs typeface="+mj-lt"/>
              </a:rPr>
              <a:t>print (soma 1 2)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0622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FE0CD-0CA5-B0FB-5156-49C94171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BA8B779-65D9-5909-328B-6D0AE2ABA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1722" y="2392410"/>
            <a:ext cx="8001000" cy="197757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Century Gothic"/>
              </a:rPr>
              <a:t>SOMA</a:t>
            </a:r>
            <a:r>
              <a:rPr lang="pt-br" sz="2000" dirty="0">
                <a:solidFill>
                  <a:schemeClr val="bg1"/>
                </a:solidFill>
                <a:latin typeface="Century Gothic"/>
              </a:rPr>
              <a:t>’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::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-&gt;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-&gt;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S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oma’ x y =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x+y</a:t>
            </a:r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Soma’ 2 2 = 5</a:t>
            </a:r>
          </a:p>
          <a:p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Print(soma’ 2 2)</a:t>
            </a:r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179691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541722" y="2392410"/>
            <a:ext cx="8001000" cy="197757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000" dirty="0" err="1">
                <a:solidFill>
                  <a:schemeClr val="bg1"/>
                </a:solidFill>
                <a:latin typeface="Century Gothic"/>
              </a:rPr>
              <a:t>somaIgnSeg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::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-&gt;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-&gt;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somaIgnSeg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x _ = x</a:t>
            </a:r>
          </a:p>
          <a:p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somaIgnSeg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10 (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error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"Isso nunca será avaliado")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6317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5698B36-E69D-A95C-F654-020275DB4D29}"/>
              </a:ext>
            </a:extLst>
          </p:cNvPr>
          <p:cNvSpPr txBox="1"/>
          <p:nvPr/>
        </p:nvSpPr>
        <p:spPr>
          <a:xfrm>
            <a:off x="1477882" y="1941090"/>
            <a:ext cx="1071637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pt-BR" sz="2400" b="1" i="0" u="none" strike="noStrike" baseline="0" dirty="0">
                <a:latin typeface="Corbel"/>
                <a:ea typeface="Segoe UI"/>
                <a:cs typeface="Segoe UI"/>
              </a:rPr>
              <a:t>- exemplo:</a:t>
            </a:r>
            <a:r>
              <a:rPr lang="pt-BR" sz="2400" b="1" i="0" dirty="0">
                <a:latin typeface="Corbel"/>
                <a:ea typeface="Segoe UI"/>
                <a:cs typeface="Segoe UI"/>
              </a:rPr>
              <a:t>​</a:t>
            </a:r>
            <a:endParaRPr lang="pt-BR" sz="2400" b="1" i="0" dirty="0">
              <a:solidFill>
                <a:schemeClr val="bg1"/>
              </a:solidFill>
              <a:latin typeface="Corbel"/>
              <a:ea typeface="Segoe UI"/>
              <a:cs typeface="Segoe UI"/>
            </a:endParaRPr>
          </a:p>
          <a:p>
            <a:pPr algn="l" rtl="0"/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textEx</a:t>
            </a:r>
            <a:r>
              <a:rPr lang="pt-BR" sz="2400" b="1" i="0" u="none" strike="noStrike" baseline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 :: </a:t>
            </a:r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String</a:t>
            </a:r>
            <a:r>
              <a:rPr lang="pt-BR" sz="2400" b="1" i="0" u="none" strike="noStrike" baseline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 -&gt; </a:t>
            </a:r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String</a:t>
            </a:r>
            <a:r>
              <a:rPr lang="pt-BR" sz="2400" b="1" i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​</a:t>
            </a:r>
          </a:p>
          <a:p>
            <a:pPr algn="l" rtl="0"/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textEx</a:t>
            </a:r>
            <a:r>
              <a:rPr lang="pt-BR" sz="2400" b="1" i="0" u="none" strike="noStrike" baseline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 (</a:t>
            </a:r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x:xs</a:t>
            </a:r>
            <a:r>
              <a:rPr lang="pt-BR" sz="2400" b="1" i="0" u="none" strike="noStrike" baseline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) = "aqui a primeira letra: "++ [x] ++" e frase toda " ++ (</a:t>
            </a:r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x:xs</a:t>
            </a:r>
            <a:r>
              <a:rPr lang="pt-BR" sz="2400" b="1" i="0" u="none" strike="noStrike" baseline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)</a:t>
            </a:r>
          </a:p>
          <a:p>
            <a:pPr algn="ctr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93667F4D-F2CD-4E50-BACC-24766910F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0"/>
            <a:ext cx="112236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20CAAE25-D2F2-493F-9569-EC552C1A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0"/>
            <a:ext cx="11176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92FDEA97-0861-44C0-9B26-4BB5F777A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5286375"/>
            <a:ext cx="2130425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FC953F9-A744-406B-9DCA-1E7B5D471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5238750"/>
            <a:ext cx="1695450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9003D2-E7D2-4253-9EF1-1F513027A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8143384" cy="6858000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F7E6F0-7FDF-587C-C40C-F73746856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97" y="1477736"/>
            <a:ext cx="6269128" cy="37610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exemplo: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sinal :: </a:t>
            </a:r>
            <a:r>
              <a:rPr lang="pt-BR" sz="3100" b="1" dirty="0" err="1">
                <a:latin typeface="Corbel"/>
              </a:rPr>
              <a:t>Int</a:t>
            </a:r>
            <a:r>
              <a:rPr lang="pt-BR" sz="3100" b="1" dirty="0">
                <a:latin typeface="Corbel"/>
              </a:rPr>
              <a:t> -&gt; </a:t>
            </a:r>
            <a:r>
              <a:rPr lang="pt-BR" sz="3100" b="1" dirty="0" err="1">
                <a:latin typeface="Corbel"/>
              </a:rPr>
              <a:t>String</a:t>
            </a:r>
            <a:endParaRPr lang="pt-BR" sz="3100" b="1" dirty="0">
              <a:latin typeface="Corbel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sinal n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  | n &gt; 0     = "Positivo"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  | n &lt; 0     = "Negativo"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  | </a:t>
            </a:r>
            <a:r>
              <a:rPr lang="pt-BR" sz="3100" b="1" dirty="0" err="1">
                <a:latin typeface="Corbel"/>
              </a:rPr>
              <a:t>otherwise</a:t>
            </a:r>
            <a:r>
              <a:rPr lang="pt-BR" sz="3100" b="1" dirty="0">
                <a:latin typeface="Corbel"/>
              </a:rPr>
              <a:t> = "Zero"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352A57B-828B-FDD2-A083-06A7135D3622}"/>
              </a:ext>
            </a:extLst>
          </p:cNvPr>
          <p:cNvSpPr txBox="1"/>
          <p:nvPr/>
        </p:nvSpPr>
        <p:spPr>
          <a:xfrm>
            <a:off x="807397" y="793305"/>
            <a:ext cx="1600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err="1">
                <a:latin typeface="+mj-lt"/>
              </a:rPr>
              <a:t>Guards</a:t>
            </a:r>
            <a:endParaRPr lang="pt-BR" sz="3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63245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A89BB9-D852-85D1-6DDC-A5AF249C1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4004" y="960012"/>
            <a:ext cx="9037954" cy="3084576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600" b="1" dirty="0">
                <a:latin typeface="Corbel"/>
              </a:rPr>
              <a:t>exemplo: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600" b="1" dirty="0">
                <a:latin typeface="Corbel"/>
              </a:rPr>
              <a:t>sinal :: </a:t>
            </a:r>
            <a:r>
              <a:rPr lang="pt-BR" sz="3600" b="1" dirty="0" err="1">
                <a:latin typeface="Corbel"/>
              </a:rPr>
              <a:t>Int</a:t>
            </a:r>
            <a:r>
              <a:rPr lang="pt-BR" sz="3600" b="1" dirty="0">
                <a:latin typeface="Corbel"/>
              </a:rPr>
              <a:t> -&gt; </a:t>
            </a:r>
            <a:r>
              <a:rPr lang="pt-BR" sz="3600" b="1" dirty="0" err="1">
                <a:latin typeface="Corbel"/>
              </a:rPr>
              <a:t>String</a:t>
            </a:r>
            <a:endParaRPr lang="pt-BR" sz="3600" b="1" dirty="0">
              <a:latin typeface="Corbel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600" b="1" dirty="0">
                <a:latin typeface="Corbel"/>
              </a:rPr>
              <a:t>sinal n = </a:t>
            </a:r>
            <a:r>
              <a:rPr lang="pt-BR" sz="3600" b="1" dirty="0" err="1">
                <a:latin typeface="Corbel"/>
              </a:rPr>
              <a:t>if</a:t>
            </a:r>
            <a:r>
              <a:rPr lang="pt-BR" sz="3600" b="1" dirty="0">
                <a:latin typeface="Corbel"/>
              </a:rPr>
              <a:t> n &gt; 0 </a:t>
            </a:r>
            <a:r>
              <a:rPr lang="pt-BR" sz="3600" b="1" dirty="0" err="1">
                <a:latin typeface="Corbel"/>
              </a:rPr>
              <a:t>then</a:t>
            </a:r>
            <a:r>
              <a:rPr lang="pt-BR" sz="3600" b="1" dirty="0">
                <a:latin typeface="Corbel"/>
              </a:rPr>
              <a:t> "Positiv</a:t>
            </a:r>
            <a:r>
              <a:rPr lang="pt-BR" sz="3200" b="1" dirty="0">
                <a:latin typeface="Corbel"/>
              </a:rPr>
              <a:t>o" </a:t>
            </a:r>
            <a:r>
              <a:rPr lang="pt-BR" sz="3200" b="1" dirty="0" err="1">
                <a:latin typeface="Corbel"/>
              </a:rPr>
              <a:t>else</a:t>
            </a:r>
            <a:r>
              <a:rPr lang="pt-BR" sz="3200" b="1" dirty="0">
                <a:latin typeface="Corbel"/>
              </a:rPr>
              <a:t> "Negativo"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3DADD53-07DB-D3C9-77EA-6D30C8739A94}"/>
              </a:ext>
            </a:extLst>
          </p:cNvPr>
          <p:cNvSpPr txBox="1"/>
          <p:nvPr/>
        </p:nvSpPr>
        <p:spPr>
          <a:xfrm>
            <a:off x="2144004" y="705282"/>
            <a:ext cx="1677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err="1"/>
              <a:t>If</a:t>
            </a:r>
            <a:r>
              <a:rPr lang="pt-BR" sz="3600" b="1" dirty="0"/>
              <a:t> e </a:t>
            </a:r>
            <a:r>
              <a:rPr lang="pt-BR" sz="3600" b="1" dirty="0" err="1"/>
              <a:t>else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1538495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10">
            <a:extLst>
              <a:ext uri="{FF2B5EF4-FFF2-40B4-BE49-F238E27FC236}">
                <a16:creationId xmlns:a16="http://schemas.microsoft.com/office/drawing/2014/main" id="{9CD9ACDE-8038-488C-AB0C-5FD1A373C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17DAFB-DA59-3A68-D53B-E934CDA67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4450" y="1389742"/>
            <a:ext cx="7372350" cy="3404680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>
                <a:solidFill>
                  <a:schemeClr val="bg1"/>
                </a:solidFill>
                <a:latin typeface="Corbel"/>
              </a:rPr>
              <a:t>exemplo: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calculaIMC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:: Double -&gt; Double -&gt;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String</a:t>
            </a:r>
            <a:endParaRPr lang="pt-BR" sz="2400" b="1" dirty="0">
              <a:solidFill>
                <a:schemeClr val="bg1"/>
              </a:solidFill>
              <a:latin typeface="Corbel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calculaIMC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peso altura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>
                <a:solidFill>
                  <a:schemeClr val="bg1"/>
                </a:solidFill>
                <a:latin typeface="Corbel"/>
              </a:rPr>
              <a:t>  |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imc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&lt; 18.5  = "Abaixo do peso"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>
                <a:solidFill>
                  <a:schemeClr val="bg1"/>
                </a:solidFill>
                <a:latin typeface="Corbel"/>
              </a:rPr>
              <a:t>  |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imc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&lt;= 24.9 = "Normal"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>
                <a:solidFill>
                  <a:schemeClr val="bg1"/>
                </a:solidFill>
                <a:latin typeface="Corbel"/>
              </a:rPr>
              <a:t>  |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otherwise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   = "Sobrepeso"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>
                <a:solidFill>
                  <a:schemeClr val="bg1"/>
                </a:solidFill>
                <a:latin typeface="Corbel"/>
              </a:rPr>
              <a:t> 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where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imc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= peso / (altura * altura</a:t>
            </a:r>
            <a:r>
              <a:rPr lang="pt-BR" sz="2400" b="1" dirty="0">
                <a:latin typeface="Corbel"/>
              </a:rPr>
              <a:t>)</a:t>
            </a: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DA6C2449-5F66-4753-AAA3-4AD81E57A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pSp>
        <p:nvGrpSpPr>
          <p:cNvPr id="35" name="Group 14">
            <a:extLst>
              <a:ext uri="{FF2B5EF4-FFF2-40B4-BE49-F238E27FC236}">
                <a16:creationId xmlns:a16="http://schemas.microsoft.com/office/drawing/2014/main" id="{329F7DAB-18F4-436A-A0D8-61013DEB6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1424" y="1"/>
            <a:ext cx="3258129" cy="6858000"/>
            <a:chOff x="141424" y="1"/>
            <a:chExt cx="3258129" cy="6858000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AA2A446D-5444-4251-A0C1-1C33937BB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5233" y="1"/>
              <a:ext cx="858884" cy="2780957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E013EF53-9F7F-40D2-9E88-917DCF643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1"/>
              <a:ext cx="835810" cy="2671495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10AE139-2815-4F3D-A56C-2608DB3D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2585830"/>
              <a:ext cx="2175413" cy="4272171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7C52B438-B53F-4BCB-A9A8-183E8815A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9078" y="2695292"/>
              <a:ext cx="2690743" cy="4162709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57375C8-AF41-41DF-8F04-72401D4B9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5233" y="2690532"/>
              <a:ext cx="2904320" cy="4167469"/>
            </a:xfrm>
            <a:custGeom>
              <a:avLst/>
              <a:gdLst>
                <a:gd name="connsiteX0" fmla="*/ 0 w 2904320"/>
                <a:gd name="connsiteY0" fmla="*/ 0 h 4167469"/>
                <a:gd name="connsiteX1" fmla="*/ 288431 w 2904320"/>
                <a:gd name="connsiteY1" fmla="*/ 90425 h 4167469"/>
                <a:gd name="connsiteX2" fmla="*/ 2904320 w 2904320"/>
                <a:gd name="connsiteY2" fmla="*/ 3220465 h 4167469"/>
                <a:gd name="connsiteX3" fmla="*/ 2904320 w 2904320"/>
                <a:gd name="connsiteY3" fmla="*/ 4167469 h 4167469"/>
                <a:gd name="connsiteX4" fmla="*/ 2694589 w 2904320"/>
                <a:gd name="connsiteY4" fmla="*/ 4167469 h 4167469"/>
                <a:gd name="connsiteX5" fmla="*/ 3846 w 2904320"/>
                <a:gd name="connsiteY5" fmla="*/ 4759 h 416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04320" h="4167469">
                  <a:moveTo>
                    <a:pt x="0" y="0"/>
                  </a:moveTo>
                  <a:lnTo>
                    <a:pt x="288431" y="90425"/>
                  </a:lnTo>
                  <a:lnTo>
                    <a:pt x="2904320" y="3220465"/>
                  </a:lnTo>
                  <a:lnTo>
                    <a:pt x="2904320" y="4167469"/>
                  </a:lnTo>
                  <a:lnTo>
                    <a:pt x="2694589" y="4167469"/>
                  </a:lnTo>
                  <a:lnTo>
                    <a:pt x="3846" y="4759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1B37C1D7-483C-4CD7-85AB-F4EEA6E573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2581071"/>
              <a:ext cx="2894568" cy="427693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4F78BF-25F4-FA0E-0776-78A43F1A2C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7790" y="6032042"/>
            <a:ext cx="2336801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8745F6-FBF4-4395-9DFE-CD5DA5E2464C}" type="datetime1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10/27/2026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3B5B2-8888-FDCB-121A-7F6E04FA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5633" y="6032041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AD8F71-C734-134A-406B-3FF23CCDC40E}"/>
              </a:ext>
            </a:extLst>
          </p:cNvPr>
          <p:cNvSpPr txBox="1"/>
          <p:nvPr/>
        </p:nvSpPr>
        <p:spPr>
          <a:xfrm>
            <a:off x="3854450" y="722074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Where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283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8EDA51D-AB0D-ACD8-4BC0-692B0E755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1732496"/>
            <a:ext cx="8516557" cy="3285866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900" b="1" dirty="0">
                <a:latin typeface="Corbel"/>
              </a:rPr>
              <a:t>exemplo: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900" b="1" dirty="0" err="1">
                <a:latin typeface="Corbel"/>
              </a:rPr>
              <a:t>calculaIMCLet</a:t>
            </a:r>
            <a:r>
              <a:rPr lang="pt-BR" sz="2900" b="1" dirty="0">
                <a:latin typeface="Corbel"/>
              </a:rPr>
              <a:t> :: Double -&gt; Double -&gt; </a:t>
            </a:r>
            <a:r>
              <a:rPr lang="pt-BR" sz="2900" b="1" dirty="0" err="1">
                <a:latin typeface="Corbel"/>
              </a:rPr>
              <a:t>String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900" b="1" dirty="0" err="1">
                <a:latin typeface="Corbel"/>
              </a:rPr>
              <a:t>calculaIMCLet</a:t>
            </a:r>
            <a:r>
              <a:rPr lang="pt-BR" sz="2900" b="1" dirty="0">
                <a:latin typeface="Corbel"/>
              </a:rPr>
              <a:t> peso altura =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900" b="1" dirty="0">
                <a:latin typeface="Corbel"/>
              </a:rPr>
              <a:t>  </a:t>
            </a:r>
            <a:r>
              <a:rPr lang="pt-BR" sz="2900" b="1" dirty="0" err="1">
                <a:latin typeface="Corbel"/>
              </a:rPr>
              <a:t>let</a:t>
            </a:r>
            <a:r>
              <a:rPr lang="pt-BR" sz="2900" b="1" dirty="0">
                <a:latin typeface="Corbel"/>
              </a:rPr>
              <a:t> </a:t>
            </a:r>
            <a:r>
              <a:rPr lang="pt-BR" sz="2900" b="1" dirty="0" err="1">
                <a:latin typeface="Corbel"/>
              </a:rPr>
              <a:t>imc</a:t>
            </a:r>
            <a:r>
              <a:rPr lang="pt-BR" sz="2900" b="1" dirty="0">
                <a:latin typeface="Corbel"/>
              </a:rPr>
              <a:t> = peso / (altura * altura)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900" b="1" dirty="0">
                <a:latin typeface="Corbel"/>
              </a:rPr>
              <a:t>  in </a:t>
            </a:r>
            <a:r>
              <a:rPr lang="pt-BR" sz="2900" b="1" dirty="0" err="1">
                <a:latin typeface="Corbel"/>
              </a:rPr>
              <a:t>if</a:t>
            </a:r>
            <a:r>
              <a:rPr lang="pt-BR" sz="2900" b="1" dirty="0">
                <a:latin typeface="Corbel"/>
              </a:rPr>
              <a:t> </a:t>
            </a:r>
            <a:r>
              <a:rPr lang="pt-BR" sz="2900" b="1" dirty="0" err="1">
                <a:latin typeface="Corbel"/>
              </a:rPr>
              <a:t>imc</a:t>
            </a:r>
            <a:r>
              <a:rPr lang="pt-BR" sz="2900" b="1" dirty="0">
                <a:latin typeface="Corbel"/>
              </a:rPr>
              <a:t> &lt; 18.5 </a:t>
            </a:r>
            <a:r>
              <a:rPr lang="pt-BR" sz="2900" b="1" dirty="0" err="1">
                <a:latin typeface="Corbel"/>
              </a:rPr>
              <a:t>then</a:t>
            </a:r>
            <a:r>
              <a:rPr lang="pt-BR" sz="2900" b="1" dirty="0">
                <a:latin typeface="Corbel"/>
              </a:rPr>
              <a:t> "Abaixo do peso" </a:t>
            </a:r>
            <a:r>
              <a:rPr lang="pt-BR" sz="2900" b="1" dirty="0" err="1">
                <a:latin typeface="Corbel"/>
              </a:rPr>
              <a:t>else</a:t>
            </a:r>
            <a:r>
              <a:rPr lang="pt-BR" sz="2900" b="1" dirty="0">
                <a:latin typeface="Corbel"/>
              </a:rPr>
              <a:t> "Normal"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A8FC7D-4DA0-AA2B-F451-F97E6025315B}"/>
              </a:ext>
            </a:extLst>
          </p:cNvPr>
          <p:cNvSpPr txBox="1"/>
          <p:nvPr/>
        </p:nvSpPr>
        <p:spPr>
          <a:xfrm>
            <a:off x="1018190" y="1012582"/>
            <a:ext cx="1810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Let ... in</a:t>
            </a:r>
          </a:p>
        </p:txBody>
      </p:sp>
    </p:spTree>
    <p:extLst>
      <p:ext uri="{BB962C8B-B14F-4D97-AF65-F5344CB8AC3E}">
        <p14:creationId xmlns:p14="http://schemas.microsoft.com/office/powerpoint/2010/main" val="10067863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12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Freeform: Shape 14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B810A0-930E-81DA-9DD4-30C647C31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208" y="2443364"/>
            <a:ext cx="9209689" cy="1792726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200" b="1" dirty="0">
                <a:solidFill>
                  <a:schemeClr val="bg1"/>
                </a:solidFill>
                <a:latin typeface="Corbel"/>
              </a:rPr>
              <a:t>exemplo: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200" b="1" dirty="0" err="1">
                <a:solidFill>
                  <a:schemeClr val="bg1"/>
                </a:solidFill>
                <a:latin typeface="Corbel"/>
              </a:rPr>
              <a:t>dobroDosPares</a:t>
            </a:r>
            <a:r>
              <a:rPr lang="pt-BR" sz="3200" b="1" dirty="0">
                <a:solidFill>
                  <a:schemeClr val="bg1"/>
                </a:solidFill>
                <a:latin typeface="Corbel"/>
              </a:rPr>
              <a:t> :: [</a:t>
            </a:r>
            <a:r>
              <a:rPr lang="pt-BR" sz="3200" b="1" dirty="0" err="1">
                <a:solidFill>
                  <a:schemeClr val="bg1"/>
                </a:solidFill>
                <a:latin typeface="Corbel"/>
              </a:rPr>
              <a:t>Int</a:t>
            </a:r>
            <a:r>
              <a:rPr lang="pt-BR" sz="3200" b="1" dirty="0">
                <a:solidFill>
                  <a:schemeClr val="bg1"/>
                </a:solidFill>
                <a:latin typeface="Corbel"/>
              </a:rPr>
              <a:t>]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200" b="1" dirty="0" err="1">
                <a:solidFill>
                  <a:schemeClr val="bg1"/>
                </a:solidFill>
                <a:latin typeface="Corbel"/>
              </a:rPr>
              <a:t>dobroDosPares</a:t>
            </a:r>
            <a:r>
              <a:rPr lang="pt-BR" sz="3200" b="1" dirty="0">
                <a:solidFill>
                  <a:schemeClr val="bg1"/>
                </a:solidFill>
                <a:latin typeface="Corbel"/>
              </a:rPr>
              <a:t> = [x * 2 | x &lt;- [1..10], x </a:t>
            </a:r>
            <a:r>
              <a:rPr lang="pt-BR" sz="3200" b="1" dirty="0" err="1">
                <a:solidFill>
                  <a:schemeClr val="bg1"/>
                </a:solidFill>
                <a:latin typeface="Corbel"/>
              </a:rPr>
              <a:t>mod</a:t>
            </a:r>
            <a:r>
              <a:rPr lang="pt-BR" sz="3200" b="1" dirty="0">
                <a:solidFill>
                  <a:schemeClr val="bg1"/>
                </a:solidFill>
                <a:latin typeface="Corbel"/>
              </a:rPr>
              <a:t> 2 == 0]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27CA4F-8AC8-AA57-C2C8-B4A635DF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103" y="6188082"/>
            <a:ext cx="2407943" cy="374642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FA6B8D50-6E8A-40E9-80DC-43E708E44670}" type="datetime1">
              <a:rPr lang="pt-BR"/>
              <a:pPr algn="l">
                <a:spcAft>
                  <a:spcPts val="600"/>
                </a:spcAft>
              </a:pPr>
              <a:t>27/10/2026</a:t>
            </a:fld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3CD306-343C-D981-04D2-DCAAE959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8666" y="6197599"/>
            <a:ext cx="104986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dirty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599578-5FD9-D0ED-3551-61728E057D96}"/>
              </a:ext>
            </a:extLst>
          </p:cNvPr>
          <p:cNvSpPr txBox="1"/>
          <p:nvPr/>
        </p:nvSpPr>
        <p:spPr>
          <a:xfrm>
            <a:off x="1359773" y="1028448"/>
            <a:ext cx="3405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err="1">
                <a:solidFill>
                  <a:schemeClr val="bg1"/>
                </a:solidFill>
              </a:rPr>
              <a:t>Compresion</a:t>
            </a:r>
            <a:r>
              <a:rPr lang="pt-BR" sz="3600" b="1" dirty="0">
                <a:solidFill>
                  <a:schemeClr val="bg1"/>
                </a:solidFill>
              </a:rPr>
              <a:t> </a:t>
            </a:r>
            <a:r>
              <a:rPr lang="pt-BR" sz="3600" b="1" dirty="0" err="1">
                <a:solidFill>
                  <a:schemeClr val="bg1"/>
                </a:solidFill>
              </a:rPr>
              <a:t>List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900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1374" y="996950"/>
            <a:ext cx="10108947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000" b="1" kern="100" spc="2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Haskell: vantagens e desafios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33387" y="1885950"/>
            <a:ext cx="5410065" cy="2250083"/>
          </a:xfrm>
          <a:prstGeom prst="roundRect">
            <a:avLst>
              <a:gd name="adj" fmla="val 8127"/>
            </a:avLst>
          </a:prstGeom>
          <a:solidFill>
            <a:srgbClr val="0B2A1B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9928" y="2178685"/>
            <a:ext cx="5073523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kern="100" spc="264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VANTAGENS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9928" y="2721570"/>
            <a:ext cx="4736981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Tipagem</a:t>
            </a: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estática: erros antes da execução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Imutabilidade</a:t>
            </a: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: valores previsíveis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Composição</a:t>
            </a: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de funções: partes reutilizáveis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Recursão</a:t>
            </a: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: ferramenta central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1885950"/>
            <a:ext cx="5410065" cy="2250083"/>
          </a:xfrm>
          <a:prstGeom prst="roundRect">
            <a:avLst>
              <a:gd name="adj" fmla="val 8127"/>
            </a:avLst>
          </a:prstGeom>
          <a:solidFill>
            <a:srgbClr val="ECFDF5"/>
          </a:solidFill>
          <a:ln w="635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584785" y="2178685"/>
            <a:ext cx="5073523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kern="100" spc="264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DESAFIOS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4785" y="2721570"/>
            <a:ext cx="4736981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Sintaxe</a:t>
            </a: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diferente de Python e Java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Curva</a:t>
            </a: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de aprendizado maior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Avaliação preguiçosa</a:t>
            </a: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: comportamento inesperado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Depuração</a:t>
            </a: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exige entender a avaliação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3387" y="4294783"/>
            <a:ext cx="11124922" cy="744141"/>
          </a:xfrm>
          <a:prstGeom prst="roundRect">
            <a:avLst>
              <a:gd name="adj" fmla="val 18432"/>
            </a:avLst>
          </a:prstGeom>
          <a:solidFill>
            <a:srgbClr val="0F1830"/>
          </a:solidFill>
          <a:ln w="635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93730" y="4461153"/>
            <a:ext cx="1086457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b="1" dirty="0">
                <a:solidFill>
                  <a:srgbClr val="39FF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Destaque: avaliação preguiçosa</a:t>
            </a: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: o valor é calculado só quando necessário.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36270" y="859261"/>
            <a:ext cx="10108947" cy="45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50" b="1" kern="100" spc="16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Como a solução foi organizada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1028236" y="1550958"/>
            <a:ext cx="10616934" cy="3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Trabalha direto com a string, usando funções recursivas.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533387" y="2311400"/>
            <a:ext cx="3606710" cy="3653929"/>
          </a:xfrm>
          <a:prstGeom prst="roundRect">
            <a:avLst>
              <a:gd name="adj" fmla="val 5070"/>
            </a:avLst>
          </a:prstGeom>
          <a:solidFill>
            <a:srgbClr val="2A0F4D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42931" y="3185409"/>
            <a:ext cx="3397165" cy="136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kern="100" spc="102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1. ENTRADA &amp; LIMPEZA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931" y="3383354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remEsp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2931" y="3747199"/>
            <a:ext cx="3397165" cy="28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Remove espaços da expressão.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2931" y="4173333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toNum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2931" y="4537178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Converte caracteres em número inteiro.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2493" y="2311400"/>
            <a:ext cx="3606710" cy="3653929"/>
          </a:xfrm>
          <a:prstGeom prst="roundRect">
            <a:avLst>
              <a:gd name="adj" fmla="val 5070"/>
            </a:avLst>
          </a:prstGeom>
          <a:solidFill>
            <a:srgbClr val="2A0F4D"/>
          </a:solidFill>
          <a:ln w="6350">
            <a:solidFill>
              <a:srgbClr val="D946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02037" y="2504272"/>
            <a:ext cx="3397165" cy="136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kern="100" spc="102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2. REGRAS &amp; BUSCA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02037" y="2702217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prioridade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02037" y="3066062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Atribui prioridades aos operadores.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02037" y="3778344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achaFim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02037" y="4142188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Percorre trechos entre parênteses.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02037" y="4854470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verUlt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02037" y="5218315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Procura operadores por prioridade.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51599" y="2311400"/>
            <a:ext cx="3606710" cy="3653929"/>
          </a:xfrm>
          <a:prstGeom prst="roundRect">
            <a:avLst>
              <a:gd name="adj" fmla="val 5070"/>
            </a:avLst>
          </a:prstGeom>
          <a:solidFill>
            <a:srgbClr val="2A0F4D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261143" y="3042335"/>
            <a:ext cx="3397165" cy="136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kern="100" spc="102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3. EXECUÇÃO RECURSIVA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61143" y="3240280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eval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61143" y="3604125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Coordena a avaliação da expressão.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61143" y="4316407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eval2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261143" y="4680252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Percorre a expressão e realiza as operações.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45766" y="6292457"/>
            <a:ext cx="11124922" cy="559197"/>
          </a:xfrm>
          <a:prstGeom prst="roundRect">
            <a:avLst>
              <a:gd name="adj" fmla="val 24527"/>
            </a:avLst>
          </a:prstGeom>
          <a:solidFill>
            <a:srgbClr val="0F183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33387" y="6435236"/>
            <a:ext cx="11124922" cy="292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6000"/>
              </a:lnSpc>
            </a:pPr>
            <a:r>
              <a:rPr lang="en-US" dirty="0">
                <a:solidFill>
                  <a:srgbClr val="D946E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         </a:t>
            </a:r>
            <a:r>
              <a:rPr lang="en-US" sz="1800" dirty="0">
                <a:solidFill>
                  <a:srgbClr val="D946E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String </a:t>
            </a:r>
            <a:r>
              <a:rPr lang="en-US" sz="1800" dirty="0" err="1">
                <a:solidFill>
                  <a:srgbClr val="D946E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bruta</a:t>
            </a:r>
            <a:r>
              <a:rPr lang="en-US" sz="18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→ </a:t>
            </a:r>
            <a:r>
              <a:rPr lang="en-US" sz="1800" dirty="0" err="1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remEsp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→ </a:t>
            </a:r>
            <a:r>
              <a:rPr lang="en-US" sz="1800" dirty="0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eval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→ </a:t>
            </a:r>
            <a:r>
              <a:rPr lang="en-US" sz="1800" dirty="0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eval2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(com </a:t>
            </a:r>
            <a:r>
              <a:rPr lang="en-US" sz="1800" dirty="0" err="1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verUlt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/ </a:t>
            </a:r>
            <a:r>
              <a:rPr lang="en-US" sz="1800" dirty="0" err="1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achaFim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/ </a:t>
            </a:r>
            <a:r>
              <a:rPr lang="en-US" sz="1800" dirty="0" err="1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prioridade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) → </a:t>
            </a:r>
            <a:r>
              <a:rPr lang="en-US" sz="1800" dirty="0" err="1">
                <a:solidFill>
                  <a:srgbClr val="D946E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Inteiro</a:t>
            </a:r>
            <a:r>
              <a:rPr lang="en-US" sz="1800" dirty="0">
                <a:solidFill>
                  <a:srgbClr val="D946E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final</a:t>
            </a:r>
            <a:endParaRPr lang="en-US" sz="1800" dirty="0">
              <a:latin typeface="IBM Plex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80" y="736600"/>
            <a:ext cx="6402327" cy="5384800"/>
          </a:xfrm>
          <a:prstGeom prst="rect">
            <a:avLst/>
          </a:prstGeom>
          <a:solidFill>
            <a:srgbClr val="2A0F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41374" y="912773"/>
            <a:ext cx="617373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126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PASSO A PASSO DA RECURSÃO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41374" y="1203226"/>
            <a:ext cx="5945138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000" b="1" kern="100" spc="2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Recursão em ação: (2+4)-(4/2)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41374" y="2489676"/>
            <a:ext cx="5945138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Subexpressões independentes, depois a subtração.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1374" y="3440112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41374" y="3689052"/>
            <a:ext cx="1676755" cy="190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41374" y="3843117"/>
            <a:ext cx="1676854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1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Parêntese esquerdo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41374" y="4675029"/>
            <a:ext cx="167685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highlight>
                  <a:srgbClr val="0F183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2+4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resulta em </a:t>
            </a:r>
            <a:r>
              <a:rPr lang="en-US" sz="22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6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75417" y="3440112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75417" y="3689052"/>
            <a:ext cx="1676854" cy="190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175417" y="3843117"/>
            <a:ext cx="1676953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1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Parêntese direito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175417" y="4675029"/>
            <a:ext cx="1676953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highlight>
                  <a:srgbClr val="0F183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4/2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resulta em </a:t>
            </a:r>
            <a:r>
              <a:rPr lang="en-US" sz="22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2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9559" y="3440112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9559" y="3689052"/>
            <a:ext cx="1676755" cy="190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9559" y="3843117"/>
            <a:ext cx="1676854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1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Subtração final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309559" y="4675029"/>
            <a:ext cx="167685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highlight>
                  <a:srgbClr val="0F183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6 - 2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resulta em </a:t>
            </a:r>
            <a:r>
              <a:rPr lang="en-US" sz="22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4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41374" y="5562044"/>
            <a:ext cx="6173732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Divisão inteira: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usa </a:t>
            </a:r>
            <a:r>
              <a:rPr lang="en-US" sz="2200" dirty="0">
                <a:solidFill>
                  <a:srgbClr val="FFFFFF"/>
                </a:solidFill>
                <a:highlight>
                  <a:srgbClr val="0F183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div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, sem parte fracionária.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72196" y="736600"/>
            <a:ext cx="3706720" cy="5384800"/>
          </a:xfrm>
          <a:prstGeom prst="rect">
            <a:avLst/>
          </a:prstGeom>
          <a:solidFill>
            <a:srgbClr val="140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900790" y="1382970"/>
            <a:ext cx="347812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126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RESULTADO FINAL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00790" y="1760736"/>
            <a:ext cx="3249531" cy="121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600" b="1" kern="100" spc="48" dirty="0">
                <a:solidFill>
                  <a:srgbClr val="D946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4</a:t>
            </a:r>
            <a:endParaRPr lang="en-US" sz="9600" dirty="0"/>
          </a:p>
        </p:txBody>
      </p:sp>
      <p:sp>
        <p:nvSpPr>
          <p:cNvPr id="22" name="Text 20"/>
          <p:cNvSpPr/>
          <p:nvPr/>
        </p:nvSpPr>
        <p:spPr>
          <a:xfrm>
            <a:off x="7900790" y="3209171"/>
            <a:ext cx="3249531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Redução completa alcançada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00790" y="4382363"/>
            <a:ext cx="347812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126" dirty="0">
                <a:solidFill>
                  <a:srgbClr val="8B5CF6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DEMONSTRAÇÃO ONLINE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00790" y="4679166"/>
            <a:ext cx="3367772" cy="77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2000" dirty="0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  <a:hlinkClick r:id="rId3"/>
              </a:rPr>
              <a:t>https://play.haskell.org/saved/lexsPuxM</a:t>
            </a:r>
            <a:endParaRPr lang="en-US" sz="2000">
              <a:solidFill>
                <a:srgbClr val="FFFFFF"/>
              </a:solidFill>
              <a:highlight>
                <a:srgbClr val="0F1830"/>
              </a:highlight>
              <a:latin typeface="Consolas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2364" y="1351478"/>
            <a:ext cx="934696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100" spc="99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COMPARAÇÃO DE PARADIGMAS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422364" y="1693221"/>
            <a:ext cx="9346966" cy="43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50" b="1" kern="100" spc="16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Haskell versus Python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812780" y="3020616"/>
            <a:ext cx="5130672" cy="2102247"/>
          </a:xfrm>
          <a:prstGeom prst="rect">
            <a:avLst/>
          </a:prstGeom>
          <a:solidFill>
            <a:srgbClr val="23262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00120" y="3323344"/>
            <a:ext cx="435599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100" spc="99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HASKELL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200120" y="3599461"/>
            <a:ext cx="4355991" cy="1002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4000"/>
              </a:lnSpc>
              <a:buSzPct val="100000"/>
              <a:buChar char="•"/>
            </a:pPr>
            <a:r>
              <a:rPr lang="en-US" sz="2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Funcional, tipagem estática e imutabilidade</a:t>
            </a:r>
            <a:endParaRPr lang="en-US" sz="1100" dirty="0"/>
          </a:p>
          <a:p>
            <a:pPr marL="223520" indent="-223520" algn="l">
              <a:lnSpc>
                <a:spcPct val="104000"/>
              </a:lnSpc>
              <a:buSzPct val="100000"/>
              <a:buChar char="•"/>
            </a:pPr>
            <a:r>
              <a:rPr lang="en-US" sz="2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Avaliação preguiçosa por padrão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8244" y="3020616"/>
            <a:ext cx="5130672" cy="2102247"/>
          </a:xfrm>
          <a:prstGeom prst="rect">
            <a:avLst/>
          </a:prstGeom>
          <a:solidFill>
            <a:srgbClr val="23262B"/>
          </a:solidFill>
          <a:ln w="63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635584" y="3295878"/>
            <a:ext cx="435599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100" spc="99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635584" y="3598271"/>
            <a:ext cx="4355991" cy="1327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4000"/>
              </a:lnSpc>
              <a:buSzPct val="100000"/>
              <a:buChar char="•"/>
            </a:pPr>
            <a:r>
              <a:rPr lang="en-US" sz="2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Multiparadigma e tipagem dinâmica</a:t>
            </a:r>
            <a:endParaRPr lang="en-US" sz="1100" dirty="0"/>
          </a:p>
          <a:p>
            <a:pPr marL="223520" indent="-223520" algn="l">
              <a:lnSpc>
                <a:spcPct val="104000"/>
              </a:lnSpc>
              <a:buSzPct val="100000"/>
              <a:buChar char="•"/>
            </a:pPr>
            <a:r>
              <a:rPr lang="en-US" sz="2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Familiar para iniciantes; aceita mutabilidade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780" y="5427663"/>
            <a:ext cx="10566136" cy="820738"/>
          </a:xfrm>
          <a:prstGeom prst="rect">
            <a:avLst/>
          </a:prstGeom>
          <a:solidFill>
            <a:srgbClr val="23262B"/>
          </a:solidFill>
          <a:ln w="63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154401" y="5544237"/>
            <a:ext cx="984225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Compara organização, legibilidade e curva de aprendizado. Nenhuma é sempre mais rápida.</a:t>
            </a:r>
            <a:endParaRPr lang="en-US" sz="1100" dirty="0"/>
          </a:p>
        </p:txBody>
      </p:sp>
      <p:sp>
        <p:nvSpPr>
          <p:cNvPr id="12" name="Título 33">
            <a:extLst>
              <a:ext uri="{FF2B5EF4-FFF2-40B4-BE49-F238E27FC236}">
                <a16:creationId xmlns:a16="http://schemas.microsoft.com/office/drawing/2014/main" id="{7562CAB7-ACC0-82BD-42FA-42C6B8CCF727}"/>
              </a:ext>
            </a:extLst>
          </p:cNvPr>
          <p:cNvSpPr txBox="1">
            <a:spLocks/>
          </p:cNvSpPr>
          <p:nvPr/>
        </p:nvSpPr>
        <p:spPr>
          <a:xfrm>
            <a:off x="7639666" y="1480456"/>
            <a:ext cx="2345848" cy="64386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defPPr rtl="0">
              <a:defRPr lang="pt-BR"/>
            </a:defPPr>
            <a:lvl1pPr marL="0" algn="ctr" defTabSz="457200" rtl="0" eaLnBrk="1" latinLnBrk="0" hangingPunct="1">
              <a:spcBef>
                <a:spcPct val="0"/>
              </a:spcBef>
              <a:buNone/>
              <a:defRPr lang="pt-BR" sz="4000" kern="1200" cap="none" baseline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>
                <a:solidFill>
                  <a:schemeClr val="bg1"/>
                </a:solidFill>
                <a:latin typeface="Space Grotesk Bold"/>
                <a:ea typeface="+mj-lt"/>
                <a:cs typeface="Space Grotesk Bold"/>
              </a:rPr>
              <a:t>Exemplo:</a:t>
            </a:r>
            <a:r>
              <a:rPr lang="pt-BR" sz="3200" b="1">
                <a:solidFill>
                  <a:schemeClr val="bg1"/>
                </a:solidFill>
                <a:latin typeface="Space Grotesk Bold"/>
                <a:ea typeface="+mj-lt"/>
                <a:cs typeface="Space Grotesk Bold"/>
              </a:rPr>
              <a:t> </a:t>
            </a:r>
            <a:endParaRPr lang="en-US" sz="3200" b="1">
              <a:solidFill>
                <a:schemeClr val="bg1"/>
              </a:solidFill>
              <a:latin typeface="Space Grotesk Bold"/>
              <a:cs typeface="Space Grotesk Bold"/>
            </a:endParaRPr>
          </a:p>
          <a:p>
            <a:endParaRPr lang="pt-BR" sz="1800" b="1" dirty="0">
              <a:solidFill>
                <a:schemeClr val="bg1"/>
              </a:solidFill>
              <a:latin typeface="Space Grotesk Bold"/>
              <a:ea typeface="+mj-lt"/>
              <a:cs typeface="Space Grotesk Bold"/>
            </a:endParaRPr>
          </a:p>
          <a:p>
            <a:r>
              <a:rPr lang="pt-BR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soma :: </a:t>
            </a:r>
            <a:r>
              <a:rPr lang="pt-BR" sz="1800" b="1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</a:t>
            </a:r>
            <a:r>
              <a:rPr lang="pt-BR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-&gt; </a:t>
            </a:r>
            <a:r>
              <a:rPr lang="pt-BR" sz="1800" b="1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</a:t>
            </a:r>
            <a:r>
              <a:rPr lang="pt-BR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-&gt; </a:t>
            </a:r>
            <a:r>
              <a:rPr lang="pt-BR" sz="1800" b="1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</a:t>
            </a:r>
          </a:p>
          <a:p>
            <a:endParaRPr lang="pt-BR" sz="2400" dirty="0">
              <a:ea typeface="+mj-lt"/>
              <a:cs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7721407" cy="6248400"/>
          </a:xfrm>
          <a:prstGeom prst="roundRect">
            <a:avLst>
              <a:gd name="adj" fmla="val 2927"/>
            </a:avLst>
          </a:prstGeom>
          <a:solidFill>
            <a:srgbClr val="15171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20727" y="614819"/>
            <a:ext cx="648953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kern="100" spc="126" dirty="0" err="1">
                <a:solidFill>
                  <a:srgbClr val="FFFFFF"/>
                </a:solidFill>
                <a:latin typeface="IBM Plex Sans"/>
              </a:rPr>
              <a:t>Conclusão</a:t>
            </a:r>
          </a:p>
        </p:txBody>
      </p:sp>
      <p:sp>
        <p:nvSpPr>
          <p:cNvPr id="4" name="Text 2"/>
          <p:cNvSpPr/>
          <p:nvPr/>
        </p:nvSpPr>
        <p:spPr>
          <a:xfrm>
            <a:off x="920727" y="1120874"/>
            <a:ext cx="6489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kern="100" spc="1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Por trás de uma expressão simples, existe toda uma lógica de interpretação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20727" y="2652812"/>
            <a:ext cx="6489438" cy="19050"/>
          </a:xfrm>
          <a:prstGeom prst="roundRect">
            <a:avLst>
              <a:gd name="adj" fmla="val 49999"/>
            </a:avLst>
          </a:prstGeom>
          <a:solidFill>
            <a:srgbClr val="FACC1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20727" y="2875062"/>
            <a:ext cx="6489538" cy="3369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Reconhecer números, operadores e prioridades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Haskell: funções, recursão e recursos funcionais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Vantagens e desafios, sobretudo para iniciantes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Paradigmas diferentes, mesmo problema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26199" y="304800"/>
            <a:ext cx="3860703" cy="6248400"/>
          </a:xfrm>
          <a:prstGeom prst="roundRect">
            <a:avLst>
              <a:gd name="adj" fmla="val 4737"/>
            </a:avLst>
          </a:prstGeom>
          <a:solidFill>
            <a:srgbClr val="23262B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42134" y="808388"/>
            <a:ext cx="262883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CENTRAL COMPUTACIONAL</a:t>
            </a:r>
            <a:endParaRPr lang="en-US" sz="2200">
              <a:latin typeface="IBM Plex Sans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42134" y="1716121"/>
            <a:ext cx="262883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 kern="100" spc="18" dirty="0" err="1">
                <a:solidFill>
                  <a:srgbClr val="FFFFFF"/>
                </a:solidFill>
                <a:latin typeface="IBM Plex Sans SemiBold"/>
              </a:rPr>
              <a:t>Resultado</a:t>
            </a:r>
            <a:r>
              <a:rPr lang="en-US" sz="3600" kern="100" spc="18" dirty="0">
                <a:solidFill>
                  <a:srgbClr val="FFFFFF"/>
                </a:solidFill>
                <a:latin typeface="IBM Plex Sans SemiBold"/>
              </a:rPr>
              <a:t> final</a:t>
            </a:r>
            <a:endParaRPr lang="en-US" sz="3600" dirty="0"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87410" y="2870771"/>
            <a:ext cx="3312006" cy="205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A </a:t>
            </a:r>
            <a:r>
              <a:rPr lang="en-US" sz="26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expressão</a:t>
            </a: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se </a:t>
            </a:r>
            <a:r>
              <a:rPr lang="en-US" sz="26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transforma</a:t>
            </a: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no </a:t>
            </a:r>
            <a:r>
              <a:rPr lang="en-US" sz="26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resultado</a:t>
            </a: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final </a:t>
            </a:r>
            <a:r>
              <a:rPr lang="en-US" sz="26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dentro</a:t>
            </a: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da central </a:t>
            </a:r>
            <a:r>
              <a:rPr lang="en-US" sz="26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computacional</a:t>
            </a: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.</a:t>
            </a:r>
            <a:endParaRPr lang="en-US" sz="2600">
              <a:latin typeface="IBM Plex Sans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1194</Words>
  <Application>Microsoft Office PowerPoint</Application>
  <PresentationFormat>Widescreen</PresentationFormat>
  <Paragraphs>217</Paragraphs>
  <Slides>19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9" baseType="lpstr">
      <vt:lpstr>Space Grotesk Bold</vt:lpstr>
      <vt:lpstr>Calibri</vt:lpstr>
      <vt:lpstr>Consolas</vt:lpstr>
      <vt:lpstr>IBM Plex Sans</vt:lpstr>
      <vt:lpstr>Century Gothic</vt:lpstr>
      <vt:lpstr>IBM Plex Sans Bold</vt:lpstr>
      <vt:lpstr>IBM Plex Sans SemiBold</vt:lpstr>
      <vt:lpstr>Corbel</vt:lpstr>
      <vt:lpstr>Arial</vt:lpstr>
      <vt:lpstr>Parallax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Metodos</vt:lpstr>
      <vt:lpstr>Apresentação do PowerPoint</vt:lpstr>
      <vt:lpstr>Apresentação do PowerPoint</vt:lpstr>
      <vt:lpstr>Apresentação do PowerPoint</vt:lpstr>
      <vt:lpstr>exemplo: sinal :: Int -&gt; String sinal n   | n &gt; 0     = "Positivo"   | n &lt; 0     = "Negativo"   | otherwise = "Zero"</vt:lpstr>
      <vt:lpstr>exemplo: sinal :: Int -&gt; String sinal n = if n &gt; 0 then "Positivo" else "Negativo"</vt:lpstr>
      <vt:lpstr>exemplo: calculaIMC :: Double -&gt; Double -&gt; String calculaIMC peso altura   | imc &lt; 18.5  = "Abaixo do peso"   | imc &lt;= 24.9 = "Normal"   | otherwise   = "Sobrepeso"   where imc = peso / (altura * altura)</vt:lpstr>
      <vt:lpstr>exemplo: calculaIMCLet :: Double -&gt; Double -&gt; String calculaIMCLet peso altura =   let imc = peso / (altura * altura)   in if imc &lt; 18.5 then "Abaixo do peso" else "Normal"</vt:lpstr>
      <vt:lpstr>exemplo: dobroDosPares :: [Int] dobroDosPares = [x * 2 | x &lt;- [1..10], x mod 2 == 0]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MARCELO MARTINS FARINASSO JUNIOR</cp:lastModifiedBy>
  <cp:revision>413</cp:revision>
  <dcterms:created xsi:type="dcterms:W3CDTF">2026-10-26T02:25:17Z</dcterms:created>
  <dcterms:modified xsi:type="dcterms:W3CDTF">2026-10-27T23:37:51Z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2026-10-27T22:05:06Z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d9010530-1475-43a1-803a-b6cf5195b07f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